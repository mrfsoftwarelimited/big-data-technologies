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3" r:id="rId2"/>
    <p:sldId id="284" r:id="rId3"/>
    <p:sldId id="286" r:id="rId4"/>
    <p:sldId id="287" r:id="rId5"/>
    <p:sldId id="299" r:id="rId6"/>
    <p:sldId id="300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288" r:id="rId17"/>
    <p:sldId id="289" r:id="rId18"/>
    <p:sldId id="290" r:id="rId19"/>
    <p:sldId id="311" r:id="rId20"/>
    <p:sldId id="312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31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2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9E94A-69B5-4EB2-946B-9F0B55C854A2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8108C-7A65-4E29-BB97-019386818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78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B3938C-8F81-3D5D-A68B-687E886D1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F562337-6598-760D-36F7-210803857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72FA32-C95B-1D5A-5835-79FE0A56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699-F9A0-4DBF-879E-04983D165F60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6455D4-0924-D2D4-E888-E7B4B7D9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E9CD86-F23D-678D-FA2B-7BB29D39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20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165B08-8561-61ED-8D29-B4DF9D46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D27719-5230-5CC9-82F8-853EC982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0D580D-A327-AEB5-736C-F67DDB89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BE25-9A02-4FF7-A819-4B8DA2236554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D3FD59-BFA9-1FCF-A3A4-0E4A0243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6F8E46-0853-4D9E-CBF3-A5036F19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262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CB1863-8805-5EFF-D344-F78E83DB5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B745185-D480-E9ED-A637-4202B3349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092654-9C79-EBBB-B732-80055C58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29D94-3476-4183-85D7-AB20F6999429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F935E1-BBE3-47F9-7F23-84899768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CE038A-2782-2B9B-42DF-8AA0F6D1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97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171520-2C7F-4694-5459-63466ACD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8549BC-942B-2827-FBFE-40B0630A4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CFBD812-DA53-4BF0-4962-51B275223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8931AEE-0B4B-592C-706C-BA15C5D3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043C2-D694-4B73-A769-AAC359184494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AD8DD22-91F8-5FAB-18B6-1ACDC90D9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FB9EE26-C96D-E9DA-889A-D6FC08F7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50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092EA3-25A0-A693-6155-126326CA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0AAFBE6-AC51-DE29-D337-80E728B24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18B329B-2558-6BF4-9EF2-D9BE02C1C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55A92BB-F1F8-E0C4-8EE4-B1FD8655A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D3AAD05-9A1B-2550-FC90-6A25EA34C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857C881-0E30-6577-3C33-3AD26070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C7F-D740-49AD-8117-A25BD322793F}" type="datetime1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89CAB12-1BA8-5C68-A92E-7A3E488E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C4A99E9-C3DE-CFE3-2196-CA581D6A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1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9801EE-6ADD-3E9B-8B37-AC6E5403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E5985D4-5970-DB26-F8B7-B8163D35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B3330-D013-4F53-99EE-FA4E14EED1ED}" type="datetime1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56595F7-DD79-9A92-5A3A-DD0F38D6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5B2B0D-E795-F021-6AEF-59A6C307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24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01908CA-6D52-3801-3691-15A5E378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8AEA6-1D6A-481D-A3DF-29ABD4449136}" type="datetime1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CA4128B-0FE0-AB9E-B1F7-48B26482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5E793DE-E275-EA62-1BE3-FB751455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73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31317C-B077-2002-E4AA-4E13B8F5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08615D-D7CA-7791-6BEA-3D226FA41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84211E0-4D0D-93F2-6DAF-B1B501C11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A721300-1760-B0AD-C7B6-3E336BD8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788-F4F7-4ECE-B95F-DDA15E37A402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226476F-3829-2A6E-1E4E-3801A5187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3BEB21F-32F8-DAE6-87FE-79AAE24B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47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3614ED-1BFB-1D46-4B62-546D2130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A9DE307-882C-3AE0-ECA4-70D7753C2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9156ED-D3E2-6F44-27BC-756E3A0A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2EB767-F564-E55D-4782-54527BD7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08DD-13F8-4DD5-A802-E746736570A8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DFC5156-CD80-EEA0-8AC3-01D10C4A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EA8BE35-752A-A73C-C06F-2D6DCE35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2D19B9-4D55-DD67-BAD5-A151882D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17ECC40-8D0F-280F-7DFA-D7D16D026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34CC6A-7BD5-0672-A128-56504670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733E-F508-4315-A759-93080B87757E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C2BE23-92D8-9407-6F57-359C415C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34E3DC-82A1-A272-9175-6273C874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08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9417E13-1C81-20AF-E23A-AB51E93EA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2B81EC3-94C5-E734-4F3B-D9F42595D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0ADA3B-6C04-0094-974B-8E44C9EB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2343-4584-4574-9ECC-E033E0065FF1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17C18A-6CE4-6638-893A-089CF71B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F6D4ED-DDA4-BC09-19AA-387A41AB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36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D325DA4-B586-1380-F465-5A40A3F7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52EA88-2189-D5C9-0818-5C30B49C2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BB4113-C1A6-5AB5-8826-84C201CAD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8B93C-9DB8-40BB-95C5-F8284A0B6BFD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985A94-ECE6-CD19-4349-272AB6ADA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20C6FC-9EC1-BD61-7E98-2B22B458D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89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Ingestion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7" y="1477023"/>
            <a:ext cx="99495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Process of </a:t>
            </a:r>
            <a:r>
              <a:rPr lang="en-US" sz="2400" b="1" dirty="0"/>
              <a:t>collecting, importing, and transferring data</a:t>
            </a:r>
            <a:r>
              <a:rPr lang="en-US" sz="2400" dirty="0"/>
              <a:t> from various sources into a storage system (e.g., HDFS, Data Lake).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Goal</a:t>
            </a:r>
            <a:r>
              <a:rPr lang="en-US" sz="2400" b="1" dirty="0"/>
              <a:t>:</a:t>
            </a:r>
            <a:r>
              <a:rPr lang="en-US" sz="2400" dirty="0"/>
              <a:t> Ensure that data from multiple formats (structured, semi-structured, unstructured) is available for processing and analysis.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Types </a:t>
            </a:r>
            <a:r>
              <a:rPr lang="en-US" sz="2400" b="1" dirty="0"/>
              <a:t>of ingestion: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Batch ingestion: Data collected periodically (e.g., daily import)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Real-time/streaming ingestion: Data ingested continuously as it arrives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657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(SQL-to-</a:t>
            </a:r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7" y="1477023"/>
            <a:ext cx="99495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tool designed specifically for efficiently transferring </a:t>
            </a:r>
            <a:r>
              <a:rPr lang="en-US" sz="2400" b="1" dirty="0"/>
              <a:t>bulk data</a:t>
            </a:r>
            <a:r>
              <a:rPr lang="en-US" sz="2400" dirty="0"/>
              <a:t> between </a:t>
            </a:r>
            <a:r>
              <a:rPr lang="en-US" sz="2400" b="1" dirty="0"/>
              <a:t>structured </a:t>
            </a:r>
            <a:r>
              <a:rPr lang="en-US" sz="2400" b="1" dirty="0" err="1"/>
              <a:t>datastores</a:t>
            </a:r>
            <a:r>
              <a:rPr lang="en-US" sz="2400" dirty="0"/>
              <a:t> (like relational databases) and </a:t>
            </a:r>
            <a:r>
              <a:rPr lang="en-US" sz="2400" dirty="0" err="1"/>
              <a:t>Hadoop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Analogy:</a:t>
            </a:r>
            <a:r>
              <a:rPr lang="en-US" sz="2400" dirty="0"/>
              <a:t> A high-speed freight train. It’s not for small, constant packages. It’s for moving massive, pre-packaged shipments (entire tables or databases) from one station (your RDBMS) to another (HDFS</a:t>
            </a:r>
            <a:r>
              <a:rPr lang="en-US" sz="2400" dirty="0" smtClean="0"/>
              <a:t>).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</a:t>
            </a:fld>
            <a:endParaRPr lang="en-GB"/>
          </a:p>
        </p:txBody>
      </p:sp>
      <p:pic>
        <p:nvPicPr>
          <p:cNvPr id="1026" name="Picture 2" descr="Apache Sqoop: Features, Architecture and Operations -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6" y="3925109"/>
            <a:ext cx="5572125" cy="258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20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Key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7" y="1477023"/>
            <a:ext cx="99495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Bi-directional</a:t>
            </a:r>
            <a:r>
              <a:rPr lang="en-US" sz="2400" b="1" dirty="0"/>
              <a:t>:</a:t>
            </a:r>
            <a:r>
              <a:rPr lang="en-US" sz="2400" dirty="0"/>
              <a:t> Can import from RDBMS to </a:t>
            </a:r>
            <a:r>
              <a:rPr lang="en-US" sz="2400" dirty="0" smtClean="0"/>
              <a:t>HDFS </a:t>
            </a:r>
            <a:r>
              <a:rPr lang="en-US" sz="2400" dirty="0"/>
              <a:t>and export from HDFS back to an RDBMS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Parallel:</a:t>
            </a:r>
            <a:r>
              <a:rPr lang="en-US" sz="2400" dirty="0"/>
              <a:t> Internally, it launches a </a:t>
            </a:r>
            <a:r>
              <a:rPr lang="en-US" sz="2400" b="1" dirty="0" err="1"/>
              <a:t>MapReduce</a:t>
            </a:r>
            <a:r>
              <a:rPr lang="en-US" sz="2400" b="1" dirty="0"/>
              <a:t> job</a:t>
            </a:r>
            <a:r>
              <a:rPr lang="en-US" sz="2400" dirty="0"/>
              <a:t> to import/export data in parallel, making it fast and scalable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Connector-Based:</a:t>
            </a:r>
            <a:r>
              <a:rPr lang="en-US" sz="2400" dirty="0"/>
              <a:t> Uses JDBC (Java Database Connectivity) connectors to connect to almost any standard database (MySQL, Oracle, </a:t>
            </a:r>
            <a:r>
              <a:rPr lang="en-US" sz="2400" dirty="0" err="1"/>
              <a:t>Postgres</a:t>
            </a:r>
            <a:r>
              <a:rPr lang="en-US" sz="2400" dirty="0"/>
              <a:t>, SQL Server, etc</a:t>
            </a:r>
            <a:r>
              <a:rPr lang="en-US" sz="2400" dirty="0" smtClean="0"/>
              <a:t>.).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Snapshot-Oriented:</a:t>
            </a:r>
            <a:r>
              <a:rPr lang="en-US" sz="2400" dirty="0"/>
              <a:t> Perfect for taking daily, weekly, or monthly snapshots of production databases for analytics.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321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GB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7" y="1477023"/>
            <a:ext cx="99495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User Command:</a:t>
            </a:r>
            <a:r>
              <a:rPr lang="en-US" sz="2000" dirty="0"/>
              <a:t> You run a </a:t>
            </a:r>
            <a:r>
              <a:rPr lang="en-US" sz="2000" dirty="0" err="1"/>
              <a:t>sqoop</a:t>
            </a:r>
            <a:r>
              <a:rPr lang="en-US" sz="2000" dirty="0"/>
              <a:t> import command, specifying the database, table, and HDFS target.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Inspects Metadata:</a:t>
            </a:r>
            <a:r>
              <a:rPr lang="en-US" sz="2000" dirty="0"/>
              <a:t> </a:t>
            </a:r>
            <a:r>
              <a:rPr lang="en-US" sz="2000" dirty="0" err="1"/>
              <a:t>Sqoop</a:t>
            </a:r>
            <a:r>
              <a:rPr lang="en-US" sz="2000" dirty="0"/>
              <a:t> connects to the database, inspects the table's schema (column names, data types).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Code Generation (</a:t>
            </a:r>
            <a:r>
              <a:rPr lang="en-US" sz="2000" b="1" dirty="0" err="1"/>
              <a:t>Codegen</a:t>
            </a:r>
            <a:r>
              <a:rPr lang="en-US" sz="2000" b="1" dirty="0"/>
              <a:t>):</a:t>
            </a:r>
            <a:r>
              <a:rPr lang="en-US" sz="2000" dirty="0"/>
              <a:t> It </a:t>
            </a:r>
            <a:r>
              <a:rPr lang="en-US" sz="2000" i="1" dirty="0"/>
              <a:t>auto-generates</a:t>
            </a:r>
            <a:r>
              <a:rPr lang="en-US" sz="2000" dirty="0"/>
              <a:t> a Java class to represent a record from your 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Launches </a:t>
            </a:r>
            <a:r>
              <a:rPr lang="en-US" sz="2000" b="1" dirty="0" err="1"/>
              <a:t>MapReduce</a:t>
            </a:r>
            <a:r>
              <a:rPr lang="en-US" sz="2000" b="1" dirty="0"/>
              <a:t> Job:</a:t>
            </a:r>
            <a:r>
              <a:rPr lang="en-US" sz="2000" dirty="0"/>
              <a:t> </a:t>
            </a:r>
            <a:r>
              <a:rPr lang="en-US" sz="2000" dirty="0" err="1"/>
              <a:t>Sqoop</a:t>
            </a:r>
            <a:r>
              <a:rPr lang="en-US" sz="2000" dirty="0"/>
              <a:t> submits a Map-Only </a:t>
            </a:r>
            <a:r>
              <a:rPr lang="en-US" sz="2000" dirty="0" err="1"/>
              <a:t>MapReduce</a:t>
            </a:r>
            <a:r>
              <a:rPr lang="en-US" sz="2000" dirty="0"/>
              <a:t> job to YARN.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Parallel Import:</a:t>
            </a:r>
            <a:r>
              <a:rPr lang="en-US" sz="2000" dirty="0"/>
              <a:t> Each </a:t>
            </a:r>
            <a:r>
              <a:rPr lang="en-US" sz="2000" b="1" dirty="0"/>
              <a:t>Mapper task</a:t>
            </a:r>
            <a:r>
              <a:rPr lang="en-US" sz="2000" dirty="0"/>
              <a:t> is given a "split" of the data to import (e.g., Mapper 1 gets rows 1-1,000,000; Mapper 2 gets 1,000,001-2,000,000).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Write to HDFS:</a:t>
            </a:r>
            <a:r>
              <a:rPr lang="en-US" sz="2000" dirty="0"/>
              <a:t> Each Mapper connects to the database, pulls its split, and writes the data as files in HDFS.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Key </a:t>
            </a:r>
            <a:r>
              <a:rPr lang="en-US" sz="2000" b="1" dirty="0"/>
              <a:t>Takeaway:</a:t>
            </a:r>
            <a:r>
              <a:rPr lang="en-US" sz="2000" dirty="0"/>
              <a:t> You don't write the </a:t>
            </a:r>
            <a:r>
              <a:rPr lang="en-US" sz="2000" dirty="0" err="1"/>
              <a:t>MapReduce</a:t>
            </a:r>
            <a:r>
              <a:rPr lang="en-US" sz="2000" dirty="0"/>
              <a:t> job; </a:t>
            </a:r>
            <a:r>
              <a:rPr lang="en-US" sz="2000" dirty="0" err="1"/>
              <a:t>Sqoop</a:t>
            </a:r>
            <a:r>
              <a:rPr lang="en-US" sz="2000" dirty="0"/>
              <a:t> does it for you. This is how it achieves high-speed, parallel data transfer.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18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293091" y="3662538"/>
            <a:ext cx="5607377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/>
              <a:t>sqoop</a:t>
            </a:r>
            <a:r>
              <a:rPr lang="en-US" sz="2000" dirty="0"/>
              <a:t> import \</a:t>
            </a:r>
          </a:p>
          <a:p>
            <a:r>
              <a:rPr lang="en-US" sz="2000" dirty="0"/>
              <a:t>--connect </a:t>
            </a:r>
            <a:r>
              <a:rPr lang="en-US" sz="2000" dirty="0" err="1"/>
              <a:t>jdbc:mysql</a:t>
            </a:r>
            <a:r>
              <a:rPr lang="en-US" sz="2000" dirty="0"/>
              <a:t>://localhost:3306/</a:t>
            </a:r>
            <a:r>
              <a:rPr lang="en-US" sz="2000" dirty="0" err="1"/>
              <a:t>companydb</a:t>
            </a:r>
            <a:r>
              <a:rPr lang="en-US" sz="2000" dirty="0"/>
              <a:t> \</a:t>
            </a:r>
          </a:p>
          <a:p>
            <a:r>
              <a:rPr lang="en-US" sz="2000" dirty="0"/>
              <a:t>--username root \</a:t>
            </a:r>
          </a:p>
          <a:p>
            <a:r>
              <a:rPr lang="en-US" sz="2000" dirty="0"/>
              <a:t>--password </a:t>
            </a:r>
            <a:r>
              <a:rPr lang="en-US" sz="2000" dirty="0" err="1"/>
              <a:t>mypassword</a:t>
            </a:r>
            <a:r>
              <a:rPr lang="en-US" sz="2000" dirty="0"/>
              <a:t> \</a:t>
            </a:r>
          </a:p>
          <a:p>
            <a:r>
              <a:rPr lang="en-US" sz="2000" dirty="0"/>
              <a:t>--table employees \</a:t>
            </a:r>
          </a:p>
          <a:p>
            <a:r>
              <a:rPr lang="en-US" sz="2000" dirty="0"/>
              <a:t>--target-</a:t>
            </a:r>
            <a:r>
              <a:rPr lang="en-US" sz="2000" dirty="0" err="1"/>
              <a:t>dir</a:t>
            </a:r>
            <a:r>
              <a:rPr lang="en-US" sz="2000" dirty="0"/>
              <a:t> /user/</a:t>
            </a:r>
            <a:r>
              <a:rPr lang="en-US" sz="2000" dirty="0" err="1"/>
              <a:t>hadoop</a:t>
            </a:r>
            <a:r>
              <a:rPr lang="en-US" sz="2000" dirty="0"/>
              <a:t>/company/employees \</a:t>
            </a:r>
          </a:p>
          <a:p>
            <a:r>
              <a:rPr lang="en-US" sz="2000" dirty="0"/>
              <a:t>--m </a:t>
            </a:r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32913"/>
              </p:ext>
            </p:extLst>
          </p:nvPr>
        </p:nvGraphicFramePr>
        <p:xfrm>
          <a:off x="6222205" y="3427719"/>
          <a:ext cx="5843588" cy="25603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05243"/>
                <a:gridCol w="453834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JDBC connection string to the source database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Database username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Password for the database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Name of the table to import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--target-dir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HDFS directory where data will be stored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map tasks (set to 1 for simplicity)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29418" y="141458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Suppose you have a MySQL database named </a:t>
            </a:r>
            <a:r>
              <a:rPr lang="en-US" dirty="0" err="1" smtClean="0">
                <a:solidFill>
                  <a:srgbClr val="0070C0"/>
                </a:solidFill>
              </a:rPr>
              <a:t>companydb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containing </a:t>
            </a:r>
            <a:r>
              <a:rPr lang="en-US" dirty="0"/>
              <a:t>a table called </a:t>
            </a:r>
            <a:r>
              <a:rPr lang="en-US" dirty="0">
                <a:solidFill>
                  <a:srgbClr val="0070C0"/>
                </a:solidFill>
              </a:rPr>
              <a:t>employees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want to import this table into HDFS under </a:t>
            </a:r>
            <a:r>
              <a:rPr lang="en-US" dirty="0">
                <a:solidFill>
                  <a:srgbClr val="0070C0"/>
                </a:solidFill>
              </a:rPr>
              <a:t>/user/</a:t>
            </a:r>
            <a:r>
              <a:rPr lang="en-US" dirty="0" err="1">
                <a:solidFill>
                  <a:srgbClr val="0070C0"/>
                </a:solidFill>
              </a:rPr>
              <a:t>hadoop</a:t>
            </a:r>
            <a:r>
              <a:rPr lang="en-US" dirty="0">
                <a:solidFill>
                  <a:srgbClr val="0070C0"/>
                </a:solidFill>
              </a:rPr>
              <a:t>/company/employees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800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926318"/>
              </p:ext>
            </p:extLst>
          </p:nvPr>
        </p:nvGraphicFramePr>
        <p:xfrm>
          <a:off x="1027981" y="2037922"/>
          <a:ext cx="3901249" cy="10972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49642"/>
                <a:gridCol w="770255"/>
                <a:gridCol w="1366647"/>
                <a:gridCol w="81470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emp_id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name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department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salary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6758" y="1562183"/>
            <a:ext cx="1553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Example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6758" y="3429000"/>
            <a:ext cx="42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After import, </a:t>
            </a:r>
            <a:r>
              <a:rPr lang="en-US" b="1" dirty="0" err="1"/>
              <a:t>Sqoop</a:t>
            </a:r>
            <a:r>
              <a:rPr lang="en-US" b="1" dirty="0"/>
              <a:t> creates a file in HDFS: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6758" y="4098350"/>
            <a:ext cx="4925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/user/</a:t>
            </a:r>
            <a:r>
              <a:rPr lang="en-US" dirty="0" err="1"/>
              <a:t>hadoop</a:t>
            </a:r>
            <a:r>
              <a:rPr lang="en-US" dirty="0"/>
              <a:t>/company/employees/part-m-00000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6758" y="4719451"/>
            <a:ext cx="1901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with contents like: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758" y="536595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101,Alice,HR,50000</a:t>
            </a:r>
          </a:p>
          <a:p>
            <a:r>
              <a:rPr lang="en-US" dirty="0"/>
              <a:t>102,Bob,IT,65000</a:t>
            </a:r>
          </a:p>
        </p:txBody>
      </p:sp>
    </p:spTree>
    <p:extLst>
      <p:ext uri="{BB962C8B-B14F-4D97-AF65-F5344CB8AC3E}">
        <p14:creationId xmlns:p14="http://schemas.microsoft.com/office/powerpoint/2010/main" val="320942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776170" y="2077488"/>
            <a:ext cx="10740094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/>
              <a:t>sqoop</a:t>
            </a:r>
            <a:r>
              <a:rPr lang="en-US" sz="2000" dirty="0"/>
              <a:t> import \</a:t>
            </a:r>
          </a:p>
          <a:p>
            <a:r>
              <a:rPr lang="en-US" sz="2000" dirty="0"/>
              <a:t>--connect </a:t>
            </a:r>
            <a:r>
              <a:rPr lang="en-US" sz="2000" dirty="0" err="1"/>
              <a:t>jdbc:mysql</a:t>
            </a:r>
            <a:r>
              <a:rPr lang="en-US" sz="2000" dirty="0"/>
              <a:t>://localhost:3306/</a:t>
            </a:r>
            <a:r>
              <a:rPr lang="en-US" sz="2000" dirty="0" err="1"/>
              <a:t>companydb</a:t>
            </a:r>
            <a:r>
              <a:rPr lang="en-US" sz="2000" dirty="0"/>
              <a:t> \</a:t>
            </a:r>
          </a:p>
          <a:p>
            <a:r>
              <a:rPr lang="en-US" sz="2000" dirty="0"/>
              <a:t>--username root \</a:t>
            </a:r>
          </a:p>
          <a:p>
            <a:r>
              <a:rPr lang="en-US" sz="2000" dirty="0"/>
              <a:t>--password </a:t>
            </a:r>
            <a:r>
              <a:rPr lang="en-US" sz="2000" dirty="0" err="1"/>
              <a:t>mypassword</a:t>
            </a:r>
            <a:r>
              <a:rPr lang="en-US" sz="2000" dirty="0"/>
              <a:t> \</a:t>
            </a:r>
          </a:p>
          <a:p>
            <a:r>
              <a:rPr lang="en-US" sz="2000" dirty="0"/>
              <a:t>--query </a:t>
            </a:r>
            <a:r>
              <a:rPr lang="en-US" sz="2000" dirty="0">
                <a:solidFill>
                  <a:srgbClr val="0070C0"/>
                </a:solidFill>
              </a:rPr>
              <a:t>"SELECT </a:t>
            </a:r>
            <a:r>
              <a:rPr lang="en-US" sz="2000" dirty="0" err="1">
                <a:solidFill>
                  <a:srgbClr val="0070C0"/>
                </a:solidFill>
              </a:rPr>
              <a:t>emp_id</a:t>
            </a:r>
            <a:r>
              <a:rPr lang="en-US" sz="2000" dirty="0">
                <a:solidFill>
                  <a:srgbClr val="0070C0"/>
                </a:solidFill>
              </a:rPr>
              <a:t>, name, salary FROM employees WHERE department='IT' AND \$CONDITIONS" \</a:t>
            </a:r>
          </a:p>
          <a:p>
            <a:r>
              <a:rPr lang="en-US" sz="2000" dirty="0"/>
              <a:t>--target-</a:t>
            </a:r>
            <a:r>
              <a:rPr lang="en-US" sz="2000" dirty="0" err="1"/>
              <a:t>dir</a:t>
            </a:r>
            <a:r>
              <a:rPr lang="en-US" sz="2000" dirty="0"/>
              <a:t> /user/</a:t>
            </a:r>
            <a:r>
              <a:rPr lang="en-US" sz="2000" dirty="0" err="1"/>
              <a:t>hadoop</a:t>
            </a:r>
            <a:r>
              <a:rPr lang="en-US" sz="2000" dirty="0"/>
              <a:t>/company/</a:t>
            </a:r>
            <a:r>
              <a:rPr lang="en-US" sz="2000" dirty="0" err="1"/>
              <a:t>it_employees</a:t>
            </a:r>
            <a:r>
              <a:rPr lang="en-US" sz="2000" dirty="0"/>
              <a:t> \</a:t>
            </a:r>
          </a:p>
          <a:p>
            <a:r>
              <a:rPr lang="en-US" sz="2000" dirty="0"/>
              <a:t>--split-by </a:t>
            </a:r>
            <a:r>
              <a:rPr lang="en-US" sz="2000" dirty="0" err="1"/>
              <a:t>emp_id</a:t>
            </a:r>
            <a:r>
              <a:rPr lang="en-US" sz="2000" dirty="0"/>
              <a:t> \</a:t>
            </a:r>
          </a:p>
          <a:p>
            <a:r>
              <a:rPr lang="en-US" sz="2000" dirty="0"/>
              <a:t>--m </a:t>
            </a:r>
            <a:r>
              <a:rPr lang="en-US" sz="2000" dirty="0" smtClean="0"/>
              <a:t>2</a:t>
            </a:r>
          </a:p>
          <a:p>
            <a:endParaRPr lang="en-US" sz="2000" dirty="0"/>
          </a:p>
          <a:p>
            <a:r>
              <a:rPr lang="en-US" sz="2000" dirty="0"/>
              <a:t>\$CONDITIONS is </a:t>
            </a:r>
            <a:r>
              <a:rPr lang="en-US" sz="2000" b="1" dirty="0"/>
              <a:t>mandatory</a:t>
            </a:r>
            <a:r>
              <a:rPr lang="en-US" sz="2000" dirty="0"/>
              <a:t> when using --query (</a:t>
            </a:r>
            <a:r>
              <a:rPr lang="en-US" sz="2000" dirty="0" err="1"/>
              <a:t>Sqoop</a:t>
            </a:r>
            <a:r>
              <a:rPr lang="en-US" sz="2000" dirty="0"/>
              <a:t> replaces it during parallel execution).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7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29418" y="141458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/>
              <a:t>Import Using Query Instead of Table</a:t>
            </a:r>
          </a:p>
        </p:txBody>
      </p:sp>
    </p:spTree>
    <p:extLst>
      <p:ext uri="{BB962C8B-B14F-4D97-AF65-F5344CB8AC3E}">
        <p14:creationId xmlns:p14="http://schemas.microsoft.com/office/powerpoint/2010/main" val="4256628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776170" y="2077488"/>
            <a:ext cx="10740094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/>
              <a:t>sqoop</a:t>
            </a:r>
            <a:r>
              <a:rPr lang="en-US" sz="2000" dirty="0"/>
              <a:t> import \</a:t>
            </a:r>
          </a:p>
          <a:p>
            <a:r>
              <a:rPr lang="en-US" sz="2000" dirty="0"/>
              <a:t>--connect </a:t>
            </a:r>
            <a:r>
              <a:rPr lang="en-US" sz="2000" dirty="0" err="1"/>
              <a:t>jdbc:mysql</a:t>
            </a:r>
            <a:r>
              <a:rPr lang="en-US" sz="2000" dirty="0"/>
              <a:t>://localhost:3306/</a:t>
            </a:r>
            <a:r>
              <a:rPr lang="en-US" sz="2000" dirty="0" err="1"/>
              <a:t>companydb</a:t>
            </a:r>
            <a:r>
              <a:rPr lang="en-US" sz="2000" dirty="0"/>
              <a:t> \</a:t>
            </a:r>
          </a:p>
          <a:p>
            <a:r>
              <a:rPr lang="en-US" sz="2000" dirty="0"/>
              <a:t>--username root \</a:t>
            </a:r>
          </a:p>
          <a:p>
            <a:r>
              <a:rPr lang="en-US" sz="2000" dirty="0"/>
              <a:t>--password </a:t>
            </a:r>
            <a:r>
              <a:rPr lang="en-US" sz="2000" dirty="0" err="1"/>
              <a:t>mypassword</a:t>
            </a:r>
            <a:r>
              <a:rPr lang="en-US" sz="2000" dirty="0"/>
              <a:t> \</a:t>
            </a:r>
          </a:p>
          <a:p>
            <a:r>
              <a:rPr lang="en-US" sz="2000" dirty="0"/>
              <a:t>--table employees \</a:t>
            </a:r>
          </a:p>
          <a:p>
            <a:r>
              <a:rPr lang="en-US" sz="2000" dirty="0"/>
              <a:t>--incremental append \</a:t>
            </a:r>
          </a:p>
          <a:p>
            <a:r>
              <a:rPr lang="en-US" sz="2000" dirty="0"/>
              <a:t>--check-column </a:t>
            </a:r>
            <a:r>
              <a:rPr lang="en-US" sz="2000" dirty="0" err="1"/>
              <a:t>emp_id</a:t>
            </a:r>
            <a:r>
              <a:rPr lang="en-US" sz="2000" dirty="0"/>
              <a:t> \</a:t>
            </a:r>
          </a:p>
          <a:p>
            <a:r>
              <a:rPr lang="en-US" sz="2000" dirty="0"/>
              <a:t>--last-value 102 \</a:t>
            </a:r>
          </a:p>
          <a:p>
            <a:r>
              <a:rPr lang="en-US" sz="2000" dirty="0"/>
              <a:t>--target-</a:t>
            </a:r>
            <a:r>
              <a:rPr lang="en-US" sz="2000" dirty="0" err="1"/>
              <a:t>dir</a:t>
            </a:r>
            <a:r>
              <a:rPr lang="en-US" sz="2000" dirty="0"/>
              <a:t> /</a:t>
            </a:r>
            <a:r>
              <a:rPr lang="en-US" sz="2000" dirty="0" smtClean="0"/>
              <a:t>user/</a:t>
            </a:r>
            <a:r>
              <a:rPr lang="en-US" sz="2000" dirty="0" err="1" smtClean="0"/>
              <a:t>hadoop</a:t>
            </a:r>
            <a:r>
              <a:rPr lang="en-US" sz="2000" dirty="0" smtClean="0"/>
              <a:t>/company/</a:t>
            </a:r>
            <a:r>
              <a:rPr lang="en-US" sz="2000" dirty="0" err="1" smtClean="0"/>
              <a:t>employees_incremental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>
                <a:solidFill>
                  <a:srgbClr val="0070C0"/>
                </a:solidFill>
              </a:rPr>
              <a:t>This imports all records where </a:t>
            </a:r>
            <a:r>
              <a:rPr lang="en-US" sz="2000" dirty="0" err="1">
                <a:solidFill>
                  <a:srgbClr val="0070C0"/>
                </a:solidFill>
              </a:rPr>
              <a:t>emp_id</a:t>
            </a:r>
            <a:r>
              <a:rPr lang="en-US" sz="2000" dirty="0">
                <a:solidFill>
                  <a:srgbClr val="0070C0"/>
                </a:solidFill>
              </a:rPr>
              <a:t> &gt; 102.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8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29418" y="141458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/>
              <a:t>To import only new or updated records:</a:t>
            </a:r>
          </a:p>
        </p:txBody>
      </p:sp>
    </p:spTree>
    <p:extLst>
      <p:ext uri="{BB962C8B-B14F-4D97-AF65-F5344CB8AC3E}">
        <p14:creationId xmlns:p14="http://schemas.microsoft.com/office/powerpoint/2010/main" val="399185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Export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470145" y="3196458"/>
            <a:ext cx="6063037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/>
              <a:t>sqoop</a:t>
            </a:r>
            <a:r>
              <a:rPr lang="en-US" sz="2000" dirty="0"/>
              <a:t> export \</a:t>
            </a:r>
          </a:p>
          <a:p>
            <a:r>
              <a:rPr lang="en-US" sz="2000" dirty="0"/>
              <a:t>--connect </a:t>
            </a:r>
            <a:r>
              <a:rPr lang="en-US" sz="2000" dirty="0" err="1"/>
              <a:t>jdbc:mysql</a:t>
            </a:r>
            <a:r>
              <a:rPr lang="en-US" sz="2000" dirty="0"/>
              <a:t>://localhost:3306/</a:t>
            </a:r>
            <a:r>
              <a:rPr lang="en-US" sz="2000" dirty="0" err="1"/>
              <a:t>companydb</a:t>
            </a:r>
            <a:r>
              <a:rPr lang="en-US" sz="2000" dirty="0"/>
              <a:t> \</a:t>
            </a:r>
          </a:p>
          <a:p>
            <a:r>
              <a:rPr lang="en-US" sz="2000" dirty="0"/>
              <a:t>--username root \</a:t>
            </a:r>
          </a:p>
          <a:p>
            <a:r>
              <a:rPr lang="en-US" sz="2000" dirty="0"/>
              <a:t>--password </a:t>
            </a:r>
            <a:r>
              <a:rPr lang="en-US" sz="2000" dirty="0" err="1"/>
              <a:t>mypassword</a:t>
            </a:r>
            <a:r>
              <a:rPr lang="en-US" sz="2000" dirty="0"/>
              <a:t> \</a:t>
            </a:r>
          </a:p>
          <a:p>
            <a:r>
              <a:rPr lang="en-US" sz="2000" dirty="0"/>
              <a:t>--table </a:t>
            </a:r>
            <a:r>
              <a:rPr lang="en-US" sz="2000" dirty="0" err="1"/>
              <a:t>employees_cleaned</a:t>
            </a:r>
            <a:r>
              <a:rPr lang="en-US" sz="2000" dirty="0"/>
              <a:t> \</a:t>
            </a:r>
          </a:p>
          <a:p>
            <a:r>
              <a:rPr lang="en-US" sz="2000" dirty="0"/>
              <a:t>--export-</a:t>
            </a:r>
            <a:r>
              <a:rPr lang="en-US" sz="2000" dirty="0" err="1"/>
              <a:t>dir</a:t>
            </a:r>
            <a:r>
              <a:rPr lang="en-US" sz="2000" dirty="0"/>
              <a:t> /user/</a:t>
            </a:r>
            <a:r>
              <a:rPr lang="en-US" sz="2000" dirty="0" err="1"/>
              <a:t>hadoop</a:t>
            </a:r>
            <a:r>
              <a:rPr lang="en-US" sz="2000" dirty="0"/>
              <a:t>/company/employees \</a:t>
            </a:r>
          </a:p>
          <a:p>
            <a:r>
              <a:rPr lang="en-US" sz="2000" dirty="0"/>
              <a:t>--input-fields-terminated-by ',' \</a:t>
            </a:r>
          </a:p>
          <a:p>
            <a:r>
              <a:rPr lang="en-US" sz="2000" dirty="0"/>
              <a:t>--m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9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470145" y="1414580"/>
            <a:ext cx="5749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Sending </a:t>
            </a:r>
            <a:r>
              <a:rPr lang="en-US" b="1" dirty="0"/>
              <a:t>data from HDFS back into a MySQL table</a:t>
            </a:r>
            <a:r>
              <a:rPr lang="en-US" b="1" dirty="0" smtClean="0"/>
              <a:t>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Now, assume you have processed or cleaned that data (maybe via Spark, Hive, or manually) — and you want to export it back into a new MySQL table called </a:t>
            </a:r>
            <a:r>
              <a:rPr lang="en-US" dirty="0" err="1"/>
              <a:t>e</a:t>
            </a:r>
            <a:r>
              <a:rPr lang="en-US" dirty="0" err="1">
                <a:solidFill>
                  <a:srgbClr val="0070C0"/>
                </a:solidFill>
              </a:rPr>
              <a:t>mployees_cleaned</a:t>
            </a:r>
            <a:r>
              <a:rPr lang="en-US" dirty="0"/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817678"/>
              </p:ext>
            </p:extLst>
          </p:nvPr>
        </p:nvGraphicFramePr>
        <p:xfrm>
          <a:off x="6711351" y="1266101"/>
          <a:ext cx="5365631" cy="44805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705663"/>
                <a:gridCol w="3659968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JDBC connection string to MySQL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--username / --password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Database credentials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--table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Target table in MySQL to receive exported data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--export-</a:t>
                      </a:r>
                      <a:r>
                        <a:rPr lang="en-US" dirty="0" err="1"/>
                        <a:t>dir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HDFS directory containing data files (created earlier by Sqoop import or Spark job)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--input-fields-terminated-by ','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Matches the delimiter used in HDFS data (important!)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--m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parallel map tasks (can increase for faster export)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590135" y="6304632"/>
            <a:ext cx="9011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Make sure the target table exists in MySQL before export</a:t>
            </a:r>
            <a:r>
              <a:rPr lang="en-US" dirty="0" smtClean="0">
                <a:solidFill>
                  <a:srgbClr val="FF0000"/>
                </a:solidFill>
              </a:rPr>
              <a:t>. If </a:t>
            </a:r>
            <a:r>
              <a:rPr lang="en-US" dirty="0">
                <a:solidFill>
                  <a:srgbClr val="FF0000"/>
                </a:solidFill>
              </a:rPr>
              <a:t>not, create it manually:</a:t>
            </a:r>
          </a:p>
        </p:txBody>
      </p:sp>
    </p:spTree>
    <p:extLst>
      <p:ext uri="{BB962C8B-B14F-4D97-AF65-F5344CB8AC3E}">
        <p14:creationId xmlns:p14="http://schemas.microsoft.com/office/powerpoint/2010/main" val="119498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390598" y="299833"/>
            <a:ext cx="9720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10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029419" y="1354673"/>
            <a:ext cx="99261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Usually, commands are run: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the terminal of the </a:t>
            </a:r>
            <a:r>
              <a:rPr lang="en-US" dirty="0" err="1"/>
              <a:t>Hadoop</a:t>
            </a:r>
            <a:r>
              <a:rPr lang="en-US" dirty="0"/>
              <a:t> master node (</a:t>
            </a:r>
            <a:r>
              <a:rPr lang="en-US" dirty="0" err="1"/>
              <a:t>NameNode</a:t>
            </a:r>
            <a:r>
              <a:rPr lang="en-US" dirty="0"/>
              <a:t> or edge node</a:t>
            </a:r>
            <a:r>
              <a:rPr lang="en-US" dirty="0" smtClean="0"/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Where </a:t>
            </a:r>
            <a:r>
              <a:rPr lang="en-US" dirty="0" err="1"/>
              <a:t>Sqoop</a:t>
            </a:r>
            <a:r>
              <a:rPr lang="en-US" dirty="0"/>
              <a:t> and </a:t>
            </a:r>
            <a:r>
              <a:rPr lang="en-US" dirty="0" err="1"/>
              <a:t>Hadoop</a:t>
            </a:r>
            <a:r>
              <a:rPr lang="en-US" dirty="0"/>
              <a:t> client utilities are </a:t>
            </a:r>
            <a:r>
              <a:rPr lang="en-US" dirty="0" smtClean="0"/>
              <a:t>installed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Typically</a:t>
            </a:r>
            <a:r>
              <a:rPr lang="en-US" dirty="0"/>
              <a:t>, this node also has network access to your MySQL </a:t>
            </a:r>
            <a:r>
              <a:rPr lang="en-US" dirty="0" smtClean="0"/>
              <a:t>server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When executed: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Sqoop</a:t>
            </a:r>
            <a:r>
              <a:rPr lang="en-US" dirty="0"/>
              <a:t> connects to MySQL via JDBC.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It retrieves metadata and splits the import into parallel map tasks.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Those </a:t>
            </a:r>
            <a:r>
              <a:rPr lang="en-US" b="1" dirty="0" err="1"/>
              <a:t>MapReduce</a:t>
            </a:r>
            <a:r>
              <a:rPr lang="en-US" b="1" dirty="0"/>
              <a:t> jobs</a:t>
            </a:r>
            <a:r>
              <a:rPr lang="en-US" dirty="0"/>
              <a:t> run in the </a:t>
            </a:r>
            <a:r>
              <a:rPr lang="en-US" dirty="0" err="1"/>
              <a:t>Hadoop</a:t>
            </a:r>
            <a:r>
              <a:rPr lang="en-US" dirty="0"/>
              <a:t> cluster, writing output files to </a:t>
            </a:r>
            <a:r>
              <a:rPr lang="en-US" b="1" dirty="0"/>
              <a:t>HDFS</a:t>
            </a:r>
            <a:r>
              <a:rPr lang="en-US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77168"/>
              </p:ext>
            </p:extLst>
          </p:nvPr>
        </p:nvGraphicFramePr>
        <p:xfrm>
          <a:off x="1640457" y="4216995"/>
          <a:ext cx="7422007" cy="21031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64207"/>
                <a:gridCol w="5257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Requirement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Hadoop installed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Working hdfs dfs commands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Sqoop installed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Check with sqoop version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Database reachable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Test with mysql -u root -p -h localhost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JDBC driver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MySQL JDBC driver (mysql-connector-java.jar) must be in </a:t>
                      </a:r>
                      <a:r>
                        <a:rPr lang="en-US" dirty="0" err="1"/>
                        <a:t>Sqoop’s</a:t>
                      </a:r>
                      <a:r>
                        <a:rPr lang="en-US" dirty="0"/>
                        <a:t> lib folder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90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390598" y="299833"/>
            <a:ext cx="9720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Integration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11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029419" y="1354673"/>
            <a:ext cx="99261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</a:t>
            </a:r>
            <a:r>
              <a:rPr lang="en-US" dirty="0" smtClean="0"/>
              <a:t>f </a:t>
            </a:r>
            <a:r>
              <a:rPr lang="en-US" dirty="0"/>
              <a:t>you’re </a:t>
            </a:r>
            <a:r>
              <a:rPr lang="en-US" dirty="0" smtClean="0"/>
              <a:t>are learning and </a:t>
            </a:r>
            <a:r>
              <a:rPr lang="en-US" dirty="0"/>
              <a:t>more comfortable in </a:t>
            </a:r>
            <a:r>
              <a:rPr lang="en-US" b="1" dirty="0"/>
              <a:t>Python</a:t>
            </a:r>
            <a:r>
              <a:rPr lang="en-US" dirty="0"/>
              <a:t> than in </a:t>
            </a:r>
            <a:r>
              <a:rPr lang="en-US" dirty="0" err="1"/>
              <a:t>Hadoop</a:t>
            </a:r>
            <a:r>
              <a:rPr lang="en-US" dirty="0"/>
              <a:t> CLI tools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Sqoop</a:t>
            </a:r>
            <a:r>
              <a:rPr lang="en-US" dirty="0"/>
              <a:t> commands themselves cannot run </a:t>
            </a:r>
            <a:r>
              <a:rPr lang="en-US" i="1" dirty="0"/>
              <a:t>inside</a:t>
            </a:r>
            <a:r>
              <a:rPr lang="en-US" dirty="0"/>
              <a:t> Python.</a:t>
            </a:r>
            <a:br>
              <a:rPr lang="en-US" dirty="0"/>
            </a:br>
            <a:r>
              <a:rPr lang="en-US" dirty="0"/>
              <a:t>But —</a:t>
            </a:r>
            <a:br>
              <a:rPr lang="en-US" dirty="0"/>
            </a:br>
            <a:r>
              <a:rPr lang="en-US" dirty="0" smtClean="0"/>
              <a:t>You </a:t>
            </a:r>
            <a:r>
              <a:rPr lang="en-US" dirty="0"/>
              <a:t>can trigger </a:t>
            </a:r>
            <a:r>
              <a:rPr lang="en-US" dirty="0" err="1"/>
              <a:t>Sqoop</a:t>
            </a:r>
            <a:r>
              <a:rPr lang="en-US" dirty="0"/>
              <a:t> from </a:t>
            </a:r>
            <a:r>
              <a:rPr lang="en-US" dirty="0" smtClean="0"/>
              <a:t>Python,</a:t>
            </a:r>
          </a:p>
          <a:p>
            <a:r>
              <a:rPr lang="en-US" dirty="0" smtClean="0"/>
              <a:t>Or </a:t>
            </a:r>
            <a:r>
              <a:rPr lang="en-US" dirty="0"/>
              <a:t>replicate what </a:t>
            </a:r>
            <a:r>
              <a:rPr lang="en-US" dirty="0" err="1"/>
              <a:t>Sqoop</a:t>
            </a:r>
            <a:r>
              <a:rPr lang="en-US" dirty="0"/>
              <a:t> does using Python libraries and frameworks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Option 1: Call </a:t>
            </a:r>
            <a:r>
              <a:rPr lang="en-US" dirty="0" err="1"/>
              <a:t>Sqoop</a:t>
            </a:r>
            <a:r>
              <a:rPr lang="en-US" dirty="0"/>
              <a:t> from Python (Shell Integration</a:t>
            </a:r>
            <a:r>
              <a:rPr lang="en-US" dirty="0" smtClean="0"/>
              <a:t>)</a:t>
            </a:r>
          </a:p>
          <a:p>
            <a:r>
              <a:rPr lang="en-US" dirty="0"/>
              <a:t>Option 2: Do the Same Job Purely in Python (No </a:t>
            </a:r>
            <a:r>
              <a:rPr lang="en-US" dirty="0" err="1"/>
              <a:t>Sqoop</a:t>
            </a:r>
            <a:r>
              <a:rPr lang="en-US" dirty="0" smtClean="0"/>
              <a:t>)</a:t>
            </a:r>
          </a:p>
          <a:p>
            <a:r>
              <a:rPr lang="en-US" dirty="0"/>
              <a:t>Option 3: Use </a:t>
            </a:r>
            <a:r>
              <a:rPr lang="en-US" dirty="0" err="1"/>
              <a:t>PySpark</a:t>
            </a:r>
            <a:r>
              <a:rPr lang="en-US" dirty="0"/>
              <a:t> Instead of </a:t>
            </a:r>
            <a:r>
              <a:rPr lang="en-US" dirty="0" err="1"/>
              <a:t>Sqoop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67859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390598" y="299833"/>
            <a:ext cx="9720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Integration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12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029419" y="1354673"/>
            <a:ext cx="99261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Option </a:t>
            </a:r>
            <a:r>
              <a:rPr lang="en-US" b="1" dirty="0"/>
              <a:t>1: Call </a:t>
            </a:r>
            <a:r>
              <a:rPr lang="en-US" b="1" dirty="0" err="1"/>
              <a:t>Sqoop</a:t>
            </a:r>
            <a:r>
              <a:rPr lang="en-US" b="1" dirty="0"/>
              <a:t> from Python (Shell Integration</a:t>
            </a:r>
            <a:r>
              <a:rPr lang="en-US" b="1" dirty="0" smtClean="0"/>
              <a:t>)</a:t>
            </a:r>
          </a:p>
          <a:p>
            <a:r>
              <a:rPr lang="en-US" dirty="0"/>
              <a:t>If </a:t>
            </a:r>
            <a:r>
              <a:rPr lang="en-US" dirty="0" err="1"/>
              <a:t>Hadoop</a:t>
            </a:r>
            <a:r>
              <a:rPr lang="en-US" dirty="0"/>
              <a:t> and </a:t>
            </a:r>
            <a:r>
              <a:rPr lang="en-US" dirty="0" err="1"/>
              <a:t>Sqoop</a:t>
            </a:r>
            <a:r>
              <a:rPr lang="en-US" dirty="0"/>
              <a:t> are installed in the environment, Python can </a:t>
            </a:r>
            <a:r>
              <a:rPr lang="en-US" b="1" dirty="0"/>
              <a:t>execute </a:t>
            </a:r>
            <a:r>
              <a:rPr lang="en-US" b="1" dirty="0" err="1"/>
              <a:t>Sqoop</a:t>
            </a:r>
            <a:r>
              <a:rPr lang="en-US" b="1" dirty="0"/>
              <a:t> commands</a:t>
            </a:r>
            <a:r>
              <a:rPr lang="en-US" dirty="0"/>
              <a:t> as </a:t>
            </a:r>
            <a:r>
              <a:rPr lang="en-US" b="1" dirty="0" err="1" smtClean="0"/>
              <a:t>subprocess</a:t>
            </a:r>
            <a:r>
              <a:rPr lang="en-US" dirty="0" smtClean="0"/>
              <a:t> </a:t>
            </a:r>
            <a:r>
              <a:rPr lang="en-US" dirty="0"/>
              <a:t>— just like running them in a terminal.</a:t>
            </a:r>
          </a:p>
        </p:txBody>
      </p:sp>
      <p:sp>
        <p:nvSpPr>
          <p:cNvPr id="2" name="Rectangle 1"/>
          <p:cNvSpPr/>
          <p:nvPr/>
        </p:nvSpPr>
        <p:spPr>
          <a:xfrm>
            <a:off x="925902" y="2666192"/>
            <a:ext cx="5621548" cy="369331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subprocess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command = [</a:t>
            </a:r>
          </a:p>
          <a:p>
            <a:r>
              <a:rPr lang="en-US" dirty="0"/>
              <a:t>    "</a:t>
            </a:r>
            <a:r>
              <a:rPr lang="en-US" dirty="0" err="1"/>
              <a:t>sqoop</a:t>
            </a:r>
            <a:r>
              <a:rPr lang="en-US" dirty="0"/>
              <a:t>", "import",</a:t>
            </a:r>
          </a:p>
          <a:p>
            <a:r>
              <a:rPr lang="en-US" dirty="0"/>
              <a:t>    "--connect", "</a:t>
            </a:r>
            <a:r>
              <a:rPr lang="en-US" dirty="0" err="1"/>
              <a:t>jdbc:mysql</a:t>
            </a:r>
            <a:r>
              <a:rPr lang="en-US" dirty="0"/>
              <a:t>://localhost:3306/</a:t>
            </a:r>
            <a:r>
              <a:rPr lang="en-US" dirty="0" err="1"/>
              <a:t>companydb</a:t>
            </a:r>
            <a:r>
              <a:rPr lang="en-US" dirty="0"/>
              <a:t>",</a:t>
            </a:r>
          </a:p>
          <a:p>
            <a:r>
              <a:rPr lang="en-US" dirty="0"/>
              <a:t>    "--username", "root",</a:t>
            </a:r>
          </a:p>
          <a:p>
            <a:r>
              <a:rPr lang="en-US" dirty="0"/>
              <a:t>    "--password", "</a:t>
            </a:r>
            <a:r>
              <a:rPr lang="en-US" dirty="0" err="1"/>
              <a:t>mypassword</a:t>
            </a:r>
            <a:r>
              <a:rPr lang="en-US" dirty="0"/>
              <a:t>",</a:t>
            </a:r>
          </a:p>
          <a:p>
            <a:r>
              <a:rPr lang="en-US" dirty="0"/>
              <a:t>    "--table", "employees",</a:t>
            </a:r>
          </a:p>
          <a:p>
            <a:r>
              <a:rPr lang="en-US" dirty="0"/>
              <a:t>    "--target-</a:t>
            </a:r>
            <a:r>
              <a:rPr lang="en-US" dirty="0" err="1"/>
              <a:t>dir</a:t>
            </a:r>
            <a:r>
              <a:rPr lang="en-US" dirty="0"/>
              <a:t>", "/user/</a:t>
            </a:r>
            <a:r>
              <a:rPr lang="en-US" dirty="0" err="1"/>
              <a:t>hadoop</a:t>
            </a:r>
            <a:r>
              <a:rPr lang="en-US" dirty="0"/>
              <a:t>/company/employees",</a:t>
            </a:r>
          </a:p>
          <a:p>
            <a:r>
              <a:rPr lang="en-US" dirty="0"/>
              <a:t>    "--m", "1"</a:t>
            </a:r>
          </a:p>
          <a:p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 err="1"/>
              <a:t>subprocess.run</a:t>
            </a:r>
            <a:r>
              <a:rPr lang="en-US" dirty="0"/>
              <a:t>(command, check=True)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1132" y="3208399"/>
            <a:ext cx="47013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works if</a:t>
            </a:r>
            <a:r>
              <a:rPr lang="en-US" dirty="0" smtClean="0"/>
              <a:t>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 smtClean="0"/>
              <a:t>You </a:t>
            </a:r>
            <a:r>
              <a:rPr lang="en-US" dirty="0"/>
              <a:t>have </a:t>
            </a:r>
            <a:r>
              <a:rPr lang="en-US" dirty="0" err="1"/>
              <a:t>Hadoop</a:t>
            </a:r>
            <a:r>
              <a:rPr lang="en-US" dirty="0"/>
              <a:t> &amp; </a:t>
            </a:r>
            <a:r>
              <a:rPr lang="en-US" dirty="0" err="1"/>
              <a:t>Sqoop</a:t>
            </a:r>
            <a:r>
              <a:rPr lang="en-US" dirty="0"/>
              <a:t> </a:t>
            </a:r>
            <a:r>
              <a:rPr lang="en-US" dirty="0" smtClean="0"/>
              <a:t>installed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 smtClean="0"/>
              <a:t>Python </a:t>
            </a:r>
            <a:r>
              <a:rPr lang="en-US" dirty="0"/>
              <a:t>is running on the same </a:t>
            </a:r>
            <a:r>
              <a:rPr lang="en-US" dirty="0" smtClean="0"/>
              <a:t>machine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database is </a:t>
            </a:r>
            <a:r>
              <a:rPr lang="en-US" dirty="0" smtClean="0"/>
              <a:t>reachable 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Essentially</a:t>
            </a:r>
            <a:r>
              <a:rPr lang="en-US" dirty="0"/>
              <a:t>, Python acts as a wrapper around </a:t>
            </a:r>
            <a:r>
              <a:rPr lang="en-US" dirty="0" err="1"/>
              <a:t>Sqoop’s</a:t>
            </a:r>
            <a:r>
              <a:rPr lang="en-US" dirty="0"/>
              <a:t> command-line utility.</a:t>
            </a:r>
          </a:p>
        </p:txBody>
      </p:sp>
    </p:spTree>
    <p:extLst>
      <p:ext uri="{BB962C8B-B14F-4D97-AF65-F5344CB8AC3E}">
        <p14:creationId xmlns:p14="http://schemas.microsoft.com/office/powerpoint/2010/main" val="3252910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390598" y="299833"/>
            <a:ext cx="9720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Integration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13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029419" y="1354673"/>
            <a:ext cx="99261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Option 2: Do the Same Job Purely in Python (No </a:t>
            </a:r>
            <a:r>
              <a:rPr lang="en-US" b="1" dirty="0" err="1"/>
              <a:t>Sqoop</a:t>
            </a:r>
            <a:r>
              <a:rPr lang="en-US" b="1" dirty="0" smtClean="0"/>
              <a:t>)</a:t>
            </a:r>
          </a:p>
          <a:p>
            <a:r>
              <a:rPr lang="en-US" dirty="0"/>
              <a:t>You can replicate </a:t>
            </a:r>
            <a:r>
              <a:rPr lang="en-US" dirty="0" err="1"/>
              <a:t>Sqoop’s</a:t>
            </a:r>
            <a:r>
              <a:rPr lang="en-US" dirty="0"/>
              <a:t> function — transferring data between MySQL and HDFS — using Python libraries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Step 1. Read Data from MySQL</a:t>
            </a:r>
          </a:p>
        </p:txBody>
      </p:sp>
      <p:sp>
        <p:nvSpPr>
          <p:cNvPr id="2" name="Rectangle 1"/>
          <p:cNvSpPr/>
          <p:nvPr/>
        </p:nvSpPr>
        <p:spPr>
          <a:xfrm>
            <a:off x="925902" y="2916358"/>
            <a:ext cx="5621548" cy="341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import pandas as </a:t>
            </a:r>
            <a:r>
              <a:rPr lang="en-US" dirty="0" err="1"/>
              <a:t>pd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mysql.connector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conn = </a:t>
            </a:r>
            <a:r>
              <a:rPr lang="en-US" dirty="0" err="1"/>
              <a:t>mysql.connector.connect</a:t>
            </a:r>
            <a:r>
              <a:rPr lang="en-US" dirty="0"/>
              <a:t>(</a:t>
            </a:r>
          </a:p>
          <a:p>
            <a:r>
              <a:rPr lang="en-US" dirty="0"/>
              <a:t>    host="</a:t>
            </a:r>
            <a:r>
              <a:rPr lang="en-US" dirty="0" err="1"/>
              <a:t>localhost</a:t>
            </a:r>
            <a:r>
              <a:rPr lang="en-US" dirty="0"/>
              <a:t>",</a:t>
            </a:r>
          </a:p>
          <a:p>
            <a:r>
              <a:rPr lang="en-US" dirty="0"/>
              <a:t>    user="root",</a:t>
            </a:r>
          </a:p>
          <a:p>
            <a:r>
              <a:rPr lang="en-US" dirty="0"/>
              <a:t>    password="</a:t>
            </a:r>
            <a:r>
              <a:rPr lang="en-US" dirty="0" err="1"/>
              <a:t>mypassword</a:t>
            </a:r>
            <a:r>
              <a:rPr lang="en-US" dirty="0"/>
              <a:t>",</a:t>
            </a:r>
          </a:p>
          <a:p>
            <a:r>
              <a:rPr lang="en-US" dirty="0"/>
              <a:t>    database="</a:t>
            </a:r>
            <a:r>
              <a:rPr lang="en-US" dirty="0" err="1"/>
              <a:t>companydb</a:t>
            </a:r>
            <a:r>
              <a:rPr lang="en-US" dirty="0"/>
              <a:t>"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pd.read_sql</a:t>
            </a:r>
            <a:r>
              <a:rPr lang="en-US" dirty="0"/>
              <a:t>("SELECT * FROM employees", conn)</a:t>
            </a:r>
          </a:p>
          <a:p>
            <a:r>
              <a:rPr lang="en-US" dirty="0" err="1"/>
              <a:t>conn.close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46379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390598" y="299833"/>
            <a:ext cx="9720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Integration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14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029419" y="1354673"/>
            <a:ext cx="99261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Option 2: Do the Same Job Purely in Python (No </a:t>
            </a:r>
            <a:r>
              <a:rPr lang="en-US" b="1" dirty="0" err="1"/>
              <a:t>Sqoop</a:t>
            </a:r>
            <a:r>
              <a:rPr lang="en-US" b="1" dirty="0" smtClean="0"/>
              <a:t>)</a:t>
            </a:r>
          </a:p>
          <a:p>
            <a:r>
              <a:rPr lang="en-US" dirty="0"/>
              <a:t>You can replicate </a:t>
            </a:r>
            <a:r>
              <a:rPr lang="en-US" dirty="0" err="1"/>
              <a:t>Sqoop’s</a:t>
            </a:r>
            <a:r>
              <a:rPr lang="en-US" dirty="0"/>
              <a:t> function — transferring data between MySQL and HDFS — using Python libraries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Step 2. Save Data to </a:t>
            </a:r>
            <a:r>
              <a:rPr lang="en-US" b="1" dirty="0" smtClean="0"/>
              <a:t>HDFS</a:t>
            </a:r>
          </a:p>
          <a:p>
            <a:r>
              <a:rPr lang="en-US" dirty="0"/>
              <a:t>If you have </a:t>
            </a:r>
            <a:r>
              <a:rPr lang="en-US" dirty="0" err="1"/>
              <a:t>Hadoop</a:t>
            </a:r>
            <a:r>
              <a:rPr lang="en-US" dirty="0"/>
              <a:t> running and want to push to HDFS: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1353217" y="3339052"/>
            <a:ext cx="10042277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hdfs</a:t>
            </a:r>
            <a:r>
              <a:rPr lang="en-US" dirty="0"/>
              <a:t> import </a:t>
            </a:r>
            <a:r>
              <a:rPr lang="en-US" dirty="0" err="1"/>
              <a:t>InsecureClient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client = </a:t>
            </a:r>
            <a:r>
              <a:rPr lang="en-US" dirty="0" err="1"/>
              <a:t>InsecureClient</a:t>
            </a:r>
            <a:r>
              <a:rPr lang="en-US" dirty="0"/>
              <a:t>('http://localhost:9870', user='</a:t>
            </a:r>
            <a:r>
              <a:rPr lang="en-US" dirty="0" err="1"/>
              <a:t>hadoop</a:t>
            </a:r>
            <a:r>
              <a:rPr lang="en-US" dirty="0"/>
              <a:t>')</a:t>
            </a:r>
          </a:p>
          <a:p>
            <a:r>
              <a:rPr lang="en-US" dirty="0" err="1"/>
              <a:t>client.write</a:t>
            </a:r>
            <a:r>
              <a:rPr lang="en-US" dirty="0"/>
              <a:t>('/user/</a:t>
            </a:r>
            <a:r>
              <a:rPr lang="en-US" dirty="0" err="1"/>
              <a:t>hadoop</a:t>
            </a:r>
            <a:r>
              <a:rPr lang="en-US" dirty="0"/>
              <a:t>/company/employees/employees.csv', </a:t>
            </a:r>
            <a:r>
              <a:rPr lang="en-US" dirty="0" err="1"/>
              <a:t>df.to_csv</a:t>
            </a:r>
            <a:r>
              <a:rPr lang="en-US" dirty="0"/>
              <a:t>(index=False), encoding='utf-8')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33268" y="5260835"/>
            <a:ext cx="87184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The </a:t>
            </a:r>
            <a:r>
              <a:rPr lang="en-US" dirty="0" err="1">
                <a:solidFill>
                  <a:srgbClr val="0070C0"/>
                </a:solidFill>
              </a:rPr>
              <a:t>hdfs</a:t>
            </a:r>
            <a:r>
              <a:rPr lang="en-US" dirty="0">
                <a:solidFill>
                  <a:srgbClr val="0070C0"/>
                </a:solidFill>
              </a:rPr>
              <a:t> library lets Python interact directly with the </a:t>
            </a:r>
            <a:r>
              <a:rPr lang="en-US" dirty="0" err="1">
                <a:solidFill>
                  <a:srgbClr val="0070C0"/>
                </a:solidFill>
              </a:rPr>
              <a:t>Hadoop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filesystem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1073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390598" y="299833"/>
            <a:ext cx="9720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Integration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15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029419" y="1354673"/>
            <a:ext cx="99261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Option 3: Use </a:t>
            </a:r>
            <a:r>
              <a:rPr lang="en-US" b="1" dirty="0" err="1"/>
              <a:t>PySpark</a:t>
            </a:r>
            <a:r>
              <a:rPr lang="en-US" b="1" dirty="0"/>
              <a:t> Instead of </a:t>
            </a:r>
            <a:r>
              <a:rPr lang="en-US" b="1" dirty="0" err="1"/>
              <a:t>Sqoop</a:t>
            </a:r>
            <a:endParaRPr lang="en-US" b="1" dirty="0" smtClean="0"/>
          </a:p>
          <a:p>
            <a:r>
              <a:rPr lang="en-US" dirty="0"/>
              <a:t>If your end goal is to bring relational data into a </a:t>
            </a:r>
            <a:r>
              <a:rPr lang="en-US" dirty="0" err="1"/>
              <a:t>Hadoop</a:t>
            </a:r>
            <a:r>
              <a:rPr lang="en-US" dirty="0"/>
              <a:t>/Spark environment, </a:t>
            </a:r>
            <a:r>
              <a:rPr lang="en-US" dirty="0" err="1"/>
              <a:t>PySpark</a:t>
            </a:r>
            <a:r>
              <a:rPr lang="en-US" dirty="0"/>
              <a:t> can handle this more </a:t>
            </a:r>
            <a:r>
              <a:rPr lang="en-US" dirty="0" smtClean="0"/>
              <a:t>naturally.</a:t>
            </a:r>
          </a:p>
        </p:txBody>
      </p:sp>
      <p:sp>
        <p:nvSpPr>
          <p:cNvPr id="2" name="Rectangle 1"/>
          <p:cNvSpPr/>
          <p:nvPr/>
        </p:nvSpPr>
        <p:spPr>
          <a:xfrm>
            <a:off x="1029419" y="2502289"/>
            <a:ext cx="7234687" cy="39703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pyspark.sql</a:t>
            </a:r>
            <a:r>
              <a:rPr lang="en-US" dirty="0"/>
              <a:t> import </a:t>
            </a:r>
            <a:r>
              <a:rPr lang="en-US" dirty="0" err="1"/>
              <a:t>SparkSession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spark = </a:t>
            </a:r>
            <a:r>
              <a:rPr lang="en-US" dirty="0" err="1"/>
              <a:t>SparkSession.builder.appName</a:t>
            </a:r>
            <a:r>
              <a:rPr lang="en-US" dirty="0"/>
              <a:t>("</a:t>
            </a:r>
            <a:r>
              <a:rPr lang="en-US" dirty="0" err="1"/>
              <a:t>MySQL_to_HDFS</a:t>
            </a:r>
            <a:r>
              <a:rPr lang="en-US" dirty="0"/>
              <a:t>").</a:t>
            </a:r>
            <a:r>
              <a:rPr lang="en-US" dirty="0" err="1"/>
              <a:t>getOrCreate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spark.read.format</a:t>
            </a:r>
            <a:r>
              <a:rPr lang="en-US" dirty="0"/>
              <a:t>("</a:t>
            </a:r>
            <a:r>
              <a:rPr lang="en-US" dirty="0" err="1"/>
              <a:t>jdbc</a:t>
            </a:r>
            <a:r>
              <a:rPr lang="en-US" dirty="0"/>
              <a:t>").options(</a:t>
            </a:r>
          </a:p>
          <a:p>
            <a:r>
              <a:rPr lang="en-US" dirty="0"/>
              <a:t>    </a:t>
            </a:r>
            <a:r>
              <a:rPr lang="en-US" dirty="0" err="1"/>
              <a:t>url</a:t>
            </a:r>
            <a:r>
              <a:rPr lang="en-US" dirty="0"/>
              <a:t>="</a:t>
            </a:r>
            <a:r>
              <a:rPr lang="en-US" dirty="0" err="1"/>
              <a:t>jdbc:mysql</a:t>
            </a:r>
            <a:r>
              <a:rPr lang="en-US" dirty="0"/>
              <a:t>://localhost:3306/</a:t>
            </a:r>
            <a:r>
              <a:rPr lang="en-US" dirty="0" err="1"/>
              <a:t>companydb</a:t>
            </a:r>
            <a:r>
              <a:rPr lang="en-US" dirty="0"/>
              <a:t>",</a:t>
            </a:r>
          </a:p>
          <a:p>
            <a:r>
              <a:rPr lang="en-US" dirty="0"/>
              <a:t>    driver="</a:t>
            </a:r>
            <a:r>
              <a:rPr lang="en-US" dirty="0" err="1"/>
              <a:t>com.mysql.cj.jdbc.Driver</a:t>
            </a:r>
            <a:r>
              <a:rPr lang="en-US" dirty="0"/>
              <a:t>",</a:t>
            </a:r>
          </a:p>
          <a:p>
            <a:r>
              <a:rPr lang="en-US" dirty="0"/>
              <a:t>    </a:t>
            </a:r>
            <a:r>
              <a:rPr lang="en-US" dirty="0" err="1"/>
              <a:t>dbtable</a:t>
            </a:r>
            <a:r>
              <a:rPr lang="en-US" dirty="0"/>
              <a:t>="employees",</a:t>
            </a:r>
          </a:p>
          <a:p>
            <a:r>
              <a:rPr lang="en-US" dirty="0"/>
              <a:t>    user="root",</a:t>
            </a:r>
          </a:p>
          <a:p>
            <a:r>
              <a:rPr lang="en-US" dirty="0"/>
              <a:t>    password="</a:t>
            </a:r>
            <a:r>
              <a:rPr lang="en-US" dirty="0" err="1"/>
              <a:t>mypassword</a:t>
            </a:r>
            <a:r>
              <a:rPr lang="en-US" dirty="0"/>
              <a:t>"</a:t>
            </a:r>
          </a:p>
          <a:p>
            <a:r>
              <a:rPr lang="en-US" dirty="0"/>
              <a:t>).load()</a:t>
            </a:r>
          </a:p>
          <a:p>
            <a:endParaRPr lang="en-US" dirty="0"/>
          </a:p>
          <a:p>
            <a:r>
              <a:rPr lang="en-US" dirty="0" err="1"/>
              <a:t>df.show</a:t>
            </a:r>
            <a:r>
              <a:rPr lang="en-US" dirty="0"/>
              <a:t>()</a:t>
            </a:r>
          </a:p>
          <a:p>
            <a:r>
              <a:rPr lang="en-US" dirty="0"/>
              <a:t>df.write.csv("</a:t>
            </a:r>
            <a:r>
              <a:rPr lang="en-US" dirty="0" err="1"/>
              <a:t>hdfs</a:t>
            </a:r>
            <a:r>
              <a:rPr lang="en-US" dirty="0"/>
              <a:t>:///user/</a:t>
            </a:r>
            <a:r>
              <a:rPr lang="en-US" dirty="0" err="1"/>
              <a:t>hadoop</a:t>
            </a:r>
            <a:r>
              <a:rPr lang="en-US" dirty="0"/>
              <a:t>/company/employees", header=True)</a:t>
            </a:r>
          </a:p>
        </p:txBody>
      </p:sp>
    </p:spTree>
    <p:extLst>
      <p:ext uri="{BB962C8B-B14F-4D97-AF65-F5344CB8AC3E}">
        <p14:creationId xmlns:p14="http://schemas.microsoft.com/office/powerpoint/2010/main" val="3997055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750499" y="1477023"/>
            <a:ext cx="55726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Apache Flume: The Real-Time Streaming Collector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A </a:t>
            </a:r>
            <a:r>
              <a:rPr lang="en-US" sz="2000" dirty="0"/>
              <a:t>distributed, reliable, and available service for efficiently </a:t>
            </a:r>
            <a:r>
              <a:rPr lang="en-US" sz="2000" b="1" dirty="0"/>
              <a:t>collecting, aggregating, and moving</a:t>
            </a:r>
            <a:r>
              <a:rPr lang="en-US" sz="2000" dirty="0"/>
              <a:t> large amounts of </a:t>
            </a:r>
            <a:r>
              <a:rPr lang="en-US" sz="2000" b="1" dirty="0"/>
              <a:t>streaming data</a:t>
            </a:r>
            <a:r>
              <a:rPr lang="en-US" sz="2000" dirty="0"/>
              <a:t>.</a:t>
            </a:r>
          </a:p>
          <a:p>
            <a:pPr algn="just"/>
            <a:endParaRPr lang="en-US" sz="2000" b="1" dirty="0" smtClean="0"/>
          </a:p>
          <a:p>
            <a:pPr algn="just"/>
            <a:r>
              <a:rPr lang="en-US" sz="2000" b="1" dirty="0" smtClean="0"/>
              <a:t>Analogy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endParaRPr lang="en-US" sz="20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A </a:t>
            </a:r>
            <a:r>
              <a:rPr lang="en-US" sz="2000" dirty="0"/>
              <a:t>network of high-speed conveyor belts. </a:t>
            </a:r>
            <a:endParaRPr lang="en-US" sz="20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It's </a:t>
            </a:r>
            <a:r>
              <a:rPr lang="en-US" sz="2000" dirty="0"/>
              <a:t>designed to catch a continuous, fast-moving stream of small items (log events, tweets, sensor data) and move them reliably to a destination</a:t>
            </a:r>
            <a:r>
              <a:rPr lang="en-US" sz="2000" dirty="0" smtClean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16</a:t>
            </a:fld>
            <a:endParaRPr lang="en-GB"/>
          </a:p>
        </p:txBody>
      </p:sp>
      <p:pic>
        <p:nvPicPr>
          <p:cNvPr id="2050" name="Picture 2" descr="Get to Know Apache Flume from Scratch! - Analytics Vidhy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727" y="2105258"/>
            <a:ext cx="5402343" cy="26824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367706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7" y="1477023"/>
            <a:ext cx="540896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000" b="1" dirty="0"/>
              <a:t>Key Features: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Real-Time:</a:t>
            </a:r>
            <a:r>
              <a:rPr lang="en-US" sz="2000" dirty="0"/>
              <a:t> Designed for high-throughput, low-latency data flow.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Reliable:</a:t>
            </a:r>
            <a:r>
              <a:rPr lang="en-US" sz="2000" dirty="0"/>
              <a:t> Provides transactional guarantees between components to prevent data loss.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Scalable:</a:t>
            </a:r>
            <a:r>
              <a:rPr lang="en-US" sz="2000" dirty="0"/>
              <a:t> Can "fan-in" data from thousands of sources and aggregate them.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Common Sources:</a:t>
            </a:r>
            <a:r>
              <a:rPr lang="en-US" sz="2000" dirty="0"/>
              <a:t> Log files (tail), web servers, social media (Twitter), </a:t>
            </a:r>
            <a:r>
              <a:rPr lang="en-US" sz="2000" dirty="0" err="1"/>
              <a:t>IoT</a:t>
            </a:r>
            <a:r>
              <a:rPr lang="en-US" sz="2000" dirty="0"/>
              <a:t> devices.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17</a:t>
            </a:fld>
            <a:endParaRPr lang="en-GB"/>
          </a:p>
        </p:txBody>
      </p:sp>
      <p:pic>
        <p:nvPicPr>
          <p:cNvPr id="2050" name="Picture 2" descr="Get to Know Apache Flume from Scratch! - Analytics Vidhy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196" y="2079378"/>
            <a:ext cx="5402343" cy="26824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633619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Flume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793424" y="3702638"/>
            <a:ext cx="107745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Flume's Core Components: </a:t>
            </a:r>
            <a:r>
              <a:rPr lang="en-US" sz="2000" dirty="0" smtClean="0"/>
              <a:t>Source</a:t>
            </a:r>
            <a:r>
              <a:rPr lang="en-US" sz="2000" dirty="0"/>
              <a:t>, Channel, Sink</a:t>
            </a:r>
          </a:p>
          <a:p>
            <a:endParaRPr lang="en-US" sz="2000" dirty="0" smtClean="0"/>
          </a:p>
          <a:p>
            <a:r>
              <a:rPr lang="en-US" sz="2000" dirty="0"/>
              <a:t>A </a:t>
            </a:r>
            <a:r>
              <a:rPr lang="en-US" sz="2000" b="1" dirty="0"/>
              <a:t>Flume Agent</a:t>
            </a:r>
            <a:r>
              <a:rPr lang="en-US" sz="2000" dirty="0"/>
              <a:t> is a JVM process that hosts the components to move data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1. Source: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The "entry point." It receives data from the external source.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It "listens" for data (e.g., </a:t>
            </a:r>
            <a:r>
              <a:rPr lang="en-US" sz="2000" dirty="0" err="1"/>
              <a:t>NetcatSource</a:t>
            </a:r>
            <a:r>
              <a:rPr lang="en-US" sz="2000" dirty="0"/>
              <a:t> listens on a port, </a:t>
            </a:r>
            <a:r>
              <a:rPr lang="en-US" sz="2000" dirty="0" err="1"/>
              <a:t>TwitterSource</a:t>
            </a:r>
            <a:r>
              <a:rPr lang="en-US" sz="2000" dirty="0"/>
              <a:t> connects to the Twitter API).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It wraps the data into a Flume "Event" (headers + byte-array body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18</a:t>
            </a:fld>
            <a:endParaRPr lang="en-GB"/>
          </a:p>
        </p:txBody>
      </p:sp>
      <p:pic>
        <p:nvPicPr>
          <p:cNvPr id="6148" name="Picture 4" descr="Agent component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352" y="1373505"/>
            <a:ext cx="4741294" cy="169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606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Flume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793423" y="3167801"/>
            <a:ext cx="107745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Channel: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The "buffer." A temporary, transactional storage between the Source and Sink.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This is what makes Flume reliable. If the Sink fails, data piles up in the Channel instead of being lost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3. Sink:</a:t>
            </a:r>
            <a:endParaRPr lang="en-US" sz="2000" dirty="0"/>
          </a:p>
          <a:p>
            <a:r>
              <a:rPr lang="en-US" sz="2000" dirty="0"/>
              <a:t>The "exit point." It removes Events from the Channel and sends them to the next destination.</a:t>
            </a:r>
          </a:p>
          <a:p>
            <a:r>
              <a:rPr lang="en-US" sz="2000" b="1" dirty="0"/>
              <a:t>Common Sinks:</a:t>
            </a:r>
            <a:r>
              <a:rPr lang="en-US" sz="2000" dirty="0"/>
              <a:t> </a:t>
            </a:r>
            <a:r>
              <a:rPr lang="en-US" sz="2000" dirty="0" err="1"/>
              <a:t>HDFSSink</a:t>
            </a:r>
            <a:r>
              <a:rPr lang="en-US" sz="2000" dirty="0"/>
              <a:t>, </a:t>
            </a:r>
            <a:r>
              <a:rPr lang="en-US" sz="2000" dirty="0" err="1"/>
              <a:t>KafkaSink</a:t>
            </a:r>
            <a:r>
              <a:rPr lang="en-US" sz="2000" dirty="0"/>
              <a:t>, </a:t>
            </a:r>
            <a:r>
              <a:rPr lang="en-US" sz="2000" dirty="0" err="1"/>
              <a:t>LoggerSink</a:t>
            </a:r>
            <a:r>
              <a:rPr lang="en-US" sz="2000" dirty="0"/>
              <a:t> (for debugging).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19</a:t>
            </a:fld>
            <a:endParaRPr lang="en-GB"/>
          </a:p>
        </p:txBody>
      </p:sp>
      <p:pic>
        <p:nvPicPr>
          <p:cNvPr id="6148" name="Picture 4" descr="Agent component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352" y="1373505"/>
            <a:ext cx="4741294" cy="169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293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Flume: Python Integration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708699" y="1589167"/>
            <a:ext cx="79781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Apache </a:t>
            </a:r>
            <a:r>
              <a:rPr lang="en-US" sz="2000" b="1" dirty="0"/>
              <a:t>Flume</a:t>
            </a:r>
            <a:r>
              <a:rPr lang="en-US" sz="2000" dirty="0"/>
              <a:t> itself is a </a:t>
            </a:r>
            <a:r>
              <a:rPr lang="en-US" sz="2000" b="1" dirty="0"/>
              <a:t>Java-based tool</a:t>
            </a:r>
            <a:r>
              <a:rPr lang="en-US" sz="2000" dirty="0"/>
              <a:t>, not a Python library — so you can’t “run Flume in Python” directly.</a:t>
            </a:r>
            <a:br>
              <a:rPr lang="en-US" sz="2000" dirty="0"/>
            </a:br>
            <a:r>
              <a:rPr lang="en-US" sz="2000" dirty="0"/>
              <a:t>However, you can </a:t>
            </a:r>
            <a:r>
              <a:rPr lang="en-US" sz="2000" b="1" dirty="0"/>
              <a:t>simulate Flume-like streaming behavior</a:t>
            </a:r>
            <a:r>
              <a:rPr lang="en-US" sz="2000" dirty="0"/>
              <a:t> in </a:t>
            </a:r>
            <a:r>
              <a:rPr lang="en-US" sz="2000" b="1" dirty="0"/>
              <a:t>pure Python</a:t>
            </a:r>
            <a:r>
              <a:rPr lang="en-US" sz="2000" dirty="0"/>
              <a:t> using modules such as: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socket (for network streaming)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threading (for concurrent input/output)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/>
              <a:t>os</a:t>
            </a:r>
            <a:r>
              <a:rPr lang="en-US" sz="2000" dirty="0"/>
              <a:t> / </a:t>
            </a:r>
            <a:r>
              <a:rPr lang="en-US" sz="2000" dirty="0" err="1"/>
              <a:t>io</a:t>
            </a:r>
            <a:r>
              <a:rPr lang="en-US" sz="2000" dirty="0"/>
              <a:t> (for writing to files)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/>
              <a:t>hdfs</a:t>
            </a:r>
            <a:r>
              <a:rPr lang="en-US" sz="2000" dirty="0"/>
              <a:t> or </a:t>
            </a:r>
            <a:r>
              <a:rPr lang="en-US" sz="2000" dirty="0" err="1"/>
              <a:t>pyarrow</a:t>
            </a:r>
            <a:r>
              <a:rPr lang="en-US" sz="2000" dirty="0"/>
              <a:t> (if you want to push data to HDFS programmatically)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20</a:t>
            </a:fld>
            <a:endParaRPr lang="en-GB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616635"/>
              </p:ext>
            </p:extLst>
          </p:nvPr>
        </p:nvGraphicFramePr>
        <p:xfrm>
          <a:off x="2045898" y="4486099"/>
          <a:ext cx="4853305" cy="14630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96998"/>
                <a:gridCol w="2456307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Flume Component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Python Equivalent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Source (Netcat)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socket server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Channel (Memory/File)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buffer.txt temporary file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Sink (HDFS)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hdfs</a:t>
                      </a:r>
                      <a:r>
                        <a:rPr lang="en-US" dirty="0"/>
                        <a:t> Python client write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199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Sqoop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Flume: Which One to Use?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21</a:t>
            </a:fld>
            <a:endParaRPr lang="en-GB"/>
          </a:p>
        </p:txBody>
      </p:sp>
      <p:pic>
        <p:nvPicPr>
          <p:cNvPr id="6148" name="Picture 4" descr="Agent component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688" y="1590441"/>
            <a:ext cx="3919920" cy="13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pache Sqoop: Features, Architecture and Operations -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240" y="1395500"/>
            <a:ext cx="3857854" cy="178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74303"/>
              </p:ext>
            </p:extLst>
          </p:nvPr>
        </p:nvGraphicFramePr>
        <p:xfrm>
          <a:off x="788590" y="3658871"/>
          <a:ext cx="10614818" cy="266318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90152"/>
                <a:gridCol w="4378907"/>
                <a:gridCol w="4845759"/>
              </a:tblGrid>
              <a:tr h="352412">
                <a:tc>
                  <a:txBody>
                    <a:bodyPr/>
                    <a:lstStyle/>
                    <a:p>
                      <a:pPr algn="ctr" rtl="0"/>
                      <a:r>
                        <a:rPr lang="en-US" sz="1600" b="1" dirty="0">
                          <a:effectLst/>
                        </a:rPr>
                        <a:t>Feature</a:t>
                      </a:r>
                      <a:endParaRPr lang="en-US" sz="16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b="1" dirty="0">
                          <a:effectLst/>
                        </a:rPr>
                        <a:t>Apache </a:t>
                      </a:r>
                      <a:r>
                        <a:rPr lang="en-US" sz="1600" b="1" dirty="0" err="1" smtClean="0">
                          <a:effectLst/>
                        </a:rPr>
                        <a:t>Sqoop</a:t>
                      </a:r>
                      <a:endParaRPr lang="en-US" sz="16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b="1" dirty="0">
                          <a:effectLst/>
                        </a:rPr>
                        <a:t>Apache </a:t>
                      </a:r>
                      <a:r>
                        <a:rPr lang="en-US" sz="1600" b="1" dirty="0" smtClean="0">
                          <a:effectLst/>
                        </a:rPr>
                        <a:t>Flume</a:t>
                      </a:r>
                      <a:endParaRPr lang="en-US" sz="16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7773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Data Type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Structured Data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Unstructured / Semi-Structured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</a:tr>
              <a:tr h="37836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Primary Use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Bulk Import / Export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Streaming / Real-Time Collection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</a:tr>
              <a:tr h="354176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How it Works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MapReduce Jobs (Connector-based)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Agents (Event-based)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</a:tr>
              <a:tr h="359984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Typical Data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RDBMS Tables (MySQL, Oracle)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Log files, Tweets, IoT sensor data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</a:tr>
              <a:tr h="343320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Data Flow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Batch. Runs, imports, then stops.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Continuous. Runs 24/7.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</a:tr>
              <a:tr h="389340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Main Analogy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Freight Train (Moves huge, pre-packed shipments)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</a:rPr>
                        <a:t>Conveyor Belt (Moves a constant stream of small items)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1351" marR="101351" marT="67567" marB="6756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777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Queues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7" y="3331702"/>
            <a:ext cx="99495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component that enables </a:t>
            </a:r>
            <a:r>
              <a:rPr lang="en-US" sz="2000" b="1" dirty="0"/>
              <a:t>asynchronous communication</a:t>
            </a:r>
            <a:r>
              <a:rPr lang="en-US" sz="2000" dirty="0"/>
              <a:t> between different computer systems or applications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/>
              <a:t>Core Components: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Producer: The application that sends/publishes a message.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Consumer: The application that receives/subscribes to a message.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Queue/Topic: The buffer that stores messages until they are processed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Popular Examples:</a:t>
            </a:r>
            <a:r>
              <a:rPr lang="en-US" sz="2000" dirty="0"/>
              <a:t> Apache Kafka, </a:t>
            </a:r>
            <a:r>
              <a:rPr lang="en-US" sz="2000" dirty="0" err="1"/>
              <a:t>RabbitMQ</a:t>
            </a:r>
            <a:r>
              <a:rPr lang="en-US" sz="2000" dirty="0"/>
              <a:t>, Amazon SQS.</a:t>
            </a:r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22</a:t>
            </a:fld>
            <a:endParaRPr lang="en-GB"/>
          </a:p>
        </p:txBody>
      </p:sp>
      <p:sp>
        <p:nvSpPr>
          <p:cNvPr id="2" name="AutoShape 2" descr="message_queue_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message_queue_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message_queue_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252" y="1226568"/>
            <a:ext cx="67341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579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Queues: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Them in Big Data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6" y="1537407"/>
            <a:ext cx="994954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smtClean="0"/>
              <a:t>1</a:t>
            </a:r>
            <a:r>
              <a:rPr lang="en-US" sz="2000" b="1" dirty="0"/>
              <a:t>. Decoupling: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The producer and consumer don't need to know about each other.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The producer doesn't care if the consumer is slow, has crashed, or is being updated. It just sends the message to the queue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2. Load Buffering (Shock Absorber):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Handles "spiky" traffic. If you suddenly get 1 million events from a web server (producer), your processing application (consumer) might crash.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The queue acts as a buffer, holding the 1 million messages and feeding them to the consumer at a sustainable pace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3. Scalability &amp; Reliability:</a:t>
            </a: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You can have many producers sending to one queue.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You can have many consumers reading from the same queue to parallelize processing.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Most queues offer </a:t>
            </a:r>
            <a:r>
              <a:rPr lang="en-US" sz="2000" b="1" dirty="0"/>
              <a:t>persistence</a:t>
            </a:r>
            <a:r>
              <a:rPr lang="en-US" sz="2000" dirty="0"/>
              <a:t> (saving messages to disk) so no data is lost if a server reboots.</a:t>
            </a:r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23</a:t>
            </a:fld>
            <a:endParaRPr lang="en-GB"/>
          </a:p>
        </p:txBody>
      </p:sp>
      <p:sp>
        <p:nvSpPr>
          <p:cNvPr id="2" name="AutoShape 2" descr="message_queue_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message_queue_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message_queue_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2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Orchestration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(Airflow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6" y="1537407"/>
            <a:ext cx="994954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Workflow Orchestration: The "Conductor" of Your Data Pipeline. Automation and scheduling of interdependent data processing tasks</a:t>
            </a:r>
            <a:r>
              <a:rPr lang="en-US" sz="2000" dirty="0" smtClean="0"/>
              <a:t>. Ensures </a:t>
            </a:r>
            <a:r>
              <a:rPr lang="en-US" sz="2000" dirty="0"/>
              <a:t>that tasks run in the correct order with proper dependency management, retries, and monitoring.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b="1" dirty="0"/>
              <a:t>The Problem:</a:t>
            </a:r>
            <a:r>
              <a:rPr lang="en-US" sz="2000" dirty="0"/>
              <a:t> Real-world data pipelines are complex and have dependencies.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You can't start Step 2 (Train Model) until Step 1 (Ingest &amp; Clean Data) is finished.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What if Step 1 fails? Should you retry? Should you send an alert?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What about running a report </a:t>
            </a:r>
            <a:r>
              <a:rPr lang="en-US" sz="2000" i="1" dirty="0"/>
              <a:t>only</a:t>
            </a:r>
            <a:r>
              <a:rPr lang="en-US" sz="2000" dirty="0"/>
              <a:t> on the first day of every month</a:t>
            </a:r>
            <a:r>
              <a:rPr lang="en-US" sz="2000" dirty="0" smtClean="0"/>
              <a:t>?</a:t>
            </a:r>
          </a:p>
          <a:p>
            <a:endParaRPr lang="en-US" sz="2000" dirty="0"/>
          </a:p>
          <a:p>
            <a:r>
              <a:rPr lang="en-US" sz="2000" b="1" dirty="0"/>
              <a:t>Core Concept:</a:t>
            </a:r>
            <a:r>
              <a:rPr lang="en-US" sz="2000" dirty="0"/>
              <a:t> A workflow orchestration tool lets you </a:t>
            </a:r>
            <a:r>
              <a:rPr lang="en-US" sz="2000" b="1" dirty="0"/>
              <a:t>author, schedule, and monitor</a:t>
            </a:r>
            <a:r>
              <a:rPr lang="en-US" sz="2000" dirty="0"/>
              <a:t> complex data pipelines as code.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24</a:t>
            </a:fld>
            <a:endParaRPr lang="en-GB"/>
          </a:p>
        </p:txBody>
      </p:sp>
      <p:sp>
        <p:nvSpPr>
          <p:cNvPr id="2" name="AutoShape 2" descr="message_queue_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message_queue_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message_queue_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https://miro.medium.com/v2/resize:fit:875/0*q6KrV32U7oNRpr6-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871" y="4790995"/>
            <a:ext cx="4964012" cy="188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183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Oozie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Airflow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25</a:t>
            </a:fld>
            <a:endParaRPr lang="en-GB"/>
          </a:p>
        </p:txBody>
      </p:sp>
      <p:sp>
        <p:nvSpPr>
          <p:cNvPr id="2" name="AutoShape 2" descr="message_queue_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message_queue_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message_queue_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232618"/>
              </p:ext>
            </p:extLst>
          </p:nvPr>
        </p:nvGraphicFramePr>
        <p:xfrm>
          <a:off x="1821611" y="1454776"/>
          <a:ext cx="8321041" cy="25603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8708"/>
                <a:gridCol w="2397951"/>
                <a:gridCol w="381438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Oozie</a:t>
                      </a:r>
                      <a:endParaRPr lang="en-US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Airflow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Workflow 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to Hadoop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Supports any task or API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UI/Monitoring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Advanced, real-time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Primarily Hadoop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Cross-platform (AWS, GCP, DBs, APIs)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Extensibility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Highly extensible via custom operators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Modern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Declining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Widely used industry standard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899557" y="4416096"/>
            <a:ext cx="71840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Prioritize </a:t>
            </a:r>
            <a:r>
              <a:rPr lang="en-US" b="1" dirty="0" smtClean="0"/>
              <a:t>Airflow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Easier </a:t>
            </a:r>
            <a:r>
              <a:rPr lang="en-US" dirty="0"/>
              <a:t>to code, debug, and maintain </a:t>
            </a:r>
            <a:r>
              <a:rPr lang="en-US" dirty="0" smtClean="0"/>
              <a:t>workflows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Integrates </a:t>
            </a:r>
            <a:r>
              <a:rPr lang="en-US" dirty="0"/>
              <a:t>with modern data </a:t>
            </a:r>
            <a:r>
              <a:rPr lang="en-US" dirty="0" smtClean="0"/>
              <a:t>ecosystems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Provides </a:t>
            </a:r>
            <a:r>
              <a:rPr lang="en-US" dirty="0"/>
              <a:t>better visualization, alerts, and </a:t>
            </a:r>
            <a:r>
              <a:rPr lang="en-US" dirty="0" smtClean="0"/>
              <a:t>retries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Ideal </a:t>
            </a:r>
            <a:r>
              <a:rPr lang="en-US" dirty="0"/>
              <a:t>for complex data pipelines combining </a:t>
            </a:r>
            <a:r>
              <a:rPr lang="en-US" dirty="0" err="1"/>
              <a:t>Hadoop</a:t>
            </a:r>
            <a:r>
              <a:rPr lang="en-US" dirty="0"/>
              <a:t>, Spark, and cloud tools</a:t>
            </a:r>
          </a:p>
        </p:txBody>
      </p:sp>
    </p:spTree>
    <p:extLst>
      <p:ext uri="{BB962C8B-B14F-4D97-AF65-F5344CB8AC3E}">
        <p14:creationId xmlns:p14="http://schemas.microsoft.com/office/powerpoint/2010/main" val="704332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Airflow's Building Blocks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6" y="1537407"/>
            <a:ext cx="536296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DAG (Directed Acyclic Graph):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workflow</a:t>
            </a:r>
            <a:r>
              <a:rPr lang="en-US" dirty="0"/>
              <a:t> is defined as a DAG. It's the "container" for all your tasks.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It's a collection of tasks with defined dependencies.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Directed:</a:t>
            </a:r>
            <a:r>
              <a:rPr lang="en-US" dirty="0"/>
              <a:t> Data flows in one direction. A -&gt; B -&gt; C.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Acyclic:</a:t>
            </a:r>
            <a:r>
              <a:rPr lang="en-US" dirty="0"/>
              <a:t> No loops. C cannot depend back on 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i="1" dirty="0"/>
              <a:t>You define the DAG in a Python file</a:t>
            </a:r>
            <a:r>
              <a:rPr lang="en-US" i="1" dirty="0" smtClean="0"/>
              <a:t>.</a:t>
            </a:r>
          </a:p>
          <a:p>
            <a:endParaRPr lang="en-US" dirty="0"/>
          </a:p>
          <a:p>
            <a:r>
              <a:rPr lang="en-US" b="1" dirty="0"/>
              <a:t>2. Operator: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"template" for a single unit of work.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Operators are the </a:t>
            </a:r>
            <a:r>
              <a:rPr lang="en-US" i="1" dirty="0"/>
              <a:t>building blocks</a:t>
            </a:r>
            <a:r>
              <a:rPr lang="en-US" dirty="0"/>
              <a:t> of a DAG.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Examples: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err="1"/>
              <a:t>BashOperator</a:t>
            </a:r>
            <a:r>
              <a:rPr lang="en-US" dirty="0"/>
              <a:t>: Runs a bash command.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err="1"/>
              <a:t>PythonOperator</a:t>
            </a:r>
            <a:r>
              <a:rPr lang="en-US" dirty="0"/>
              <a:t>: Runs a Python function.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err="1"/>
              <a:t>SparkSubmitOperator</a:t>
            </a:r>
            <a:r>
              <a:rPr lang="en-US" dirty="0"/>
              <a:t>: Submits a Spark job.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err="1"/>
              <a:t>BigQueryOperator</a:t>
            </a:r>
            <a:r>
              <a:rPr lang="en-US" dirty="0"/>
              <a:t>: Runs a SQL query in </a:t>
            </a:r>
            <a:r>
              <a:rPr lang="en-US" dirty="0" err="1"/>
              <a:t>BigQuery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26</a:t>
            </a:fld>
            <a:endParaRPr lang="en-GB"/>
          </a:p>
        </p:txBody>
      </p:sp>
      <p:sp>
        <p:nvSpPr>
          <p:cNvPr id="2" name="AutoShape 2" descr="message_queue_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message_queue_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message_queue_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6484189" y="1537406"/>
            <a:ext cx="5210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/>
              <a:t>3</a:t>
            </a:r>
            <a:r>
              <a:rPr lang="en-US" b="1" dirty="0"/>
              <a:t>. Task: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Task</a:t>
            </a:r>
            <a:r>
              <a:rPr lang="en-US" dirty="0"/>
              <a:t> is a </a:t>
            </a:r>
            <a:r>
              <a:rPr lang="en-US" i="1" dirty="0"/>
              <a:t>specific instance</a:t>
            </a:r>
            <a:r>
              <a:rPr lang="en-US" dirty="0"/>
              <a:t> of an Operator.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dag = DAG(...)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run_sqoop_job</a:t>
            </a:r>
            <a:r>
              <a:rPr lang="en-US" dirty="0"/>
              <a:t> = </a:t>
            </a:r>
            <a:r>
              <a:rPr lang="en-US" dirty="0" err="1"/>
              <a:t>BashOperator</a:t>
            </a:r>
            <a:r>
              <a:rPr lang="en-US" dirty="0"/>
              <a:t>(</a:t>
            </a:r>
            <a:r>
              <a:rPr lang="en-US" dirty="0" err="1"/>
              <a:t>task_id</a:t>
            </a:r>
            <a:r>
              <a:rPr lang="en-US" dirty="0"/>
              <a:t>='</a:t>
            </a:r>
            <a:r>
              <a:rPr lang="en-US" dirty="0" err="1"/>
              <a:t>run_sqoop_job</a:t>
            </a:r>
            <a:r>
              <a:rPr lang="en-US" dirty="0"/>
              <a:t>', </a:t>
            </a:r>
            <a:r>
              <a:rPr lang="en-US" dirty="0" err="1"/>
              <a:t>bash_command</a:t>
            </a:r>
            <a:r>
              <a:rPr lang="en-US" dirty="0"/>
              <a:t>='</a:t>
            </a:r>
            <a:r>
              <a:rPr lang="en-US" dirty="0" err="1"/>
              <a:t>sqoop</a:t>
            </a:r>
            <a:r>
              <a:rPr lang="en-US" dirty="0"/>
              <a:t> import ...', dag=dag)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run_spark_job</a:t>
            </a:r>
            <a:r>
              <a:rPr lang="en-US" dirty="0"/>
              <a:t> = </a:t>
            </a:r>
            <a:r>
              <a:rPr lang="en-US" dirty="0" err="1"/>
              <a:t>SparkSubmitOperator</a:t>
            </a:r>
            <a:r>
              <a:rPr lang="en-US" dirty="0"/>
              <a:t>(</a:t>
            </a:r>
            <a:r>
              <a:rPr lang="en-US" dirty="0" err="1"/>
              <a:t>task_id</a:t>
            </a:r>
            <a:r>
              <a:rPr lang="en-US" dirty="0"/>
              <a:t>='</a:t>
            </a:r>
            <a:r>
              <a:rPr lang="en-US" dirty="0" err="1"/>
              <a:t>run_spark_job</a:t>
            </a:r>
            <a:r>
              <a:rPr lang="en-US" dirty="0"/>
              <a:t>', ...)</a:t>
            </a:r>
          </a:p>
        </p:txBody>
      </p:sp>
    </p:spTree>
    <p:extLst>
      <p:ext uri="{BB962C8B-B14F-4D97-AF65-F5344CB8AC3E}">
        <p14:creationId xmlns:p14="http://schemas.microsoft.com/office/powerpoint/2010/main" val="1183531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 Core Concepts: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6" y="1537407"/>
            <a:ext cx="98170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workflow is just a Python file.</a:t>
            </a:r>
          </a:p>
          <a:p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define the </a:t>
            </a:r>
            <a:r>
              <a:rPr lang="en-US" b="1" dirty="0"/>
              <a:t>tasks</a:t>
            </a:r>
            <a:r>
              <a:rPr lang="en-US" dirty="0"/>
              <a:t> (Operators) and then set their </a:t>
            </a:r>
            <a:r>
              <a:rPr lang="en-US" b="1" dirty="0"/>
              <a:t>dependencies</a:t>
            </a:r>
            <a:r>
              <a:rPr lang="en-US" dirty="0"/>
              <a:t> using </a:t>
            </a:r>
            <a:r>
              <a:rPr lang="en-US" dirty="0" err="1"/>
              <a:t>bitshift</a:t>
            </a:r>
            <a:r>
              <a:rPr lang="en-US" dirty="0"/>
              <a:t> operators (&gt;&gt; or &lt;&lt;).</a:t>
            </a:r>
          </a:p>
          <a:p>
            <a:endParaRPr lang="en-US" b="1" dirty="0" smtClean="0"/>
          </a:p>
          <a:p>
            <a:r>
              <a:rPr lang="en-US" b="1" dirty="0" smtClean="0"/>
              <a:t>Example </a:t>
            </a:r>
            <a:r>
              <a:rPr lang="en-US" b="1" dirty="0"/>
              <a:t>Python Code (my_pipeline.py):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27</a:t>
            </a:fld>
            <a:endParaRPr lang="en-GB"/>
          </a:p>
        </p:txBody>
      </p:sp>
      <p:sp>
        <p:nvSpPr>
          <p:cNvPr id="2" name="AutoShape 2" descr="message_queue_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message_queue_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message_queue_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08053" y="3326306"/>
            <a:ext cx="6096000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# 1. Define tasks</a:t>
            </a:r>
          </a:p>
          <a:p>
            <a:r>
              <a:rPr lang="en-US" dirty="0" err="1"/>
              <a:t>ingest_data</a:t>
            </a:r>
            <a:r>
              <a:rPr lang="en-US" dirty="0"/>
              <a:t> = </a:t>
            </a:r>
            <a:r>
              <a:rPr lang="en-US" dirty="0" err="1"/>
              <a:t>BashOperator</a:t>
            </a:r>
            <a:r>
              <a:rPr lang="en-US" dirty="0"/>
              <a:t>(</a:t>
            </a:r>
            <a:r>
              <a:rPr lang="en-US" dirty="0" err="1"/>
              <a:t>task_id</a:t>
            </a:r>
            <a:r>
              <a:rPr lang="en-US" dirty="0"/>
              <a:t>='</a:t>
            </a:r>
            <a:r>
              <a:rPr lang="en-US" dirty="0" err="1"/>
              <a:t>ingest_data</a:t>
            </a:r>
            <a:r>
              <a:rPr lang="en-US" dirty="0"/>
              <a:t>', ...)</a:t>
            </a:r>
          </a:p>
          <a:p>
            <a:r>
              <a:rPr lang="en-US" dirty="0" err="1"/>
              <a:t>clean_data</a:t>
            </a:r>
            <a:r>
              <a:rPr lang="en-US" dirty="0"/>
              <a:t> = </a:t>
            </a:r>
            <a:r>
              <a:rPr lang="en-US" dirty="0" err="1"/>
              <a:t>SparkSubmitOperator</a:t>
            </a:r>
            <a:r>
              <a:rPr lang="en-US" dirty="0"/>
              <a:t>(</a:t>
            </a:r>
            <a:r>
              <a:rPr lang="en-US" dirty="0" err="1"/>
              <a:t>task_id</a:t>
            </a:r>
            <a:r>
              <a:rPr lang="en-US" dirty="0"/>
              <a:t>='</a:t>
            </a:r>
            <a:r>
              <a:rPr lang="en-US" dirty="0" err="1"/>
              <a:t>clean_data</a:t>
            </a:r>
            <a:r>
              <a:rPr lang="en-US" dirty="0"/>
              <a:t>', ...)</a:t>
            </a:r>
          </a:p>
          <a:p>
            <a:r>
              <a:rPr lang="en-US" dirty="0" err="1"/>
              <a:t>train_model</a:t>
            </a:r>
            <a:r>
              <a:rPr lang="en-US" dirty="0"/>
              <a:t> = </a:t>
            </a:r>
            <a:r>
              <a:rPr lang="en-US" dirty="0" err="1"/>
              <a:t>PythonOperator</a:t>
            </a:r>
            <a:r>
              <a:rPr lang="en-US" dirty="0"/>
              <a:t>(</a:t>
            </a:r>
            <a:r>
              <a:rPr lang="en-US" dirty="0" err="1"/>
              <a:t>task_id</a:t>
            </a:r>
            <a:r>
              <a:rPr lang="en-US" dirty="0"/>
              <a:t>='</a:t>
            </a:r>
            <a:r>
              <a:rPr lang="en-US" dirty="0" err="1"/>
              <a:t>train_model</a:t>
            </a:r>
            <a:r>
              <a:rPr lang="en-US" dirty="0"/>
              <a:t>', ...)</a:t>
            </a:r>
          </a:p>
          <a:p>
            <a:endParaRPr lang="en-US" dirty="0"/>
          </a:p>
          <a:p>
            <a:r>
              <a:rPr lang="en-US" dirty="0"/>
              <a:t># 2. Define dependencies (the workflow)</a:t>
            </a:r>
          </a:p>
          <a:p>
            <a:r>
              <a:rPr lang="en-US" dirty="0"/>
              <a:t># This means '</a:t>
            </a:r>
            <a:r>
              <a:rPr lang="en-US" dirty="0" err="1"/>
              <a:t>clean_data</a:t>
            </a:r>
            <a:r>
              <a:rPr lang="en-US" dirty="0"/>
              <a:t>' runs after '</a:t>
            </a:r>
            <a:r>
              <a:rPr lang="en-US" dirty="0" err="1"/>
              <a:t>ingest_data</a:t>
            </a:r>
            <a:r>
              <a:rPr lang="en-US" dirty="0"/>
              <a:t>'</a:t>
            </a:r>
          </a:p>
          <a:p>
            <a:r>
              <a:rPr lang="en-US" dirty="0"/>
              <a:t># and '</a:t>
            </a:r>
            <a:r>
              <a:rPr lang="en-US" dirty="0" err="1"/>
              <a:t>train_model</a:t>
            </a:r>
            <a:r>
              <a:rPr lang="en-US" dirty="0"/>
              <a:t>' runs after '</a:t>
            </a:r>
            <a:r>
              <a:rPr lang="en-US" dirty="0" err="1"/>
              <a:t>clean_data</a:t>
            </a:r>
            <a:r>
              <a:rPr lang="en-US" dirty="0"/>
              <a:t>'.</a:t>
            </a:r>
          </a:p>
          <a:p>
            <a:endParaRPr lang="en-US" dirty="0"/>
          </a:p>
          <a:p>
            <a:r>
              <a:rPr lang="en-US" dirty="0" err="1"/>
              <a:t>ingest_data</a:t>
            </a:r>
            <a:r>
              <a:rPr lang="en-US" dirty="0"/>
              <a:t> &gt;&gt; </a:t>
            </a:r>
            <a:r>
              <a:rPr lang="en-US" dirty="0" err="1"/>
              <a:t>clean_data</a:t>
            </a:r>
            <a:r>
              <a:rPr lang="en-US" dirty="0"/>
              <a:t> &gt;&gt; </a:t>
            </a:r>
            <a:r>
              <a:rPr lang="en-US" dirty="0" err="1"/>
              <a:t>train_model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48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Airflow: ETL 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0E7BF7-9240-E61C-7520-97ED4F1594B0}"/>
              </a:ext>
            </a:extLst>
          </p:cNvPr>
          <p:cNvSpPr txBox="1"/>
          <p:nvPr/>
        </p:nvSpPr>
        <p:spPr>
          <a:xfrm>
            <a:off x="1121226" y="1537407"/>
            <a:ext cx="98170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Simple Airflow Example: ETL Pipeline</a:t>
            </a:r>
          </a:p>
          <a:p>
            <a:r>
              <a:rPr lang="en-US" dirty="0"/>
              <a:t>Let’s say you want to: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Extract data from an API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Transform the data (clean/filter it)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Load it into a database (e.g., </a:t>
            </a:r>
            <a:r>
              <a:rPr lang="en-US" dirty="0" err="1"/>
              <a:t>PostgreSQL</a:t>
            </a:r>
            <a:r>
              <a:rPr lang="en-US" dirty="0"/>
              <a:t> or AWS S3)</a:t>
            </a:r>
          </a:p>
          <a:p>
            <a:r>
              <a:rPr lang="en-US" dirty="0"/>
              <a:t>We’ll build this with Airflow.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28</a:t>
            </a:fld>
            <a:endParaRPr lang="en-GB"/>
          </a:p>
        </p:txBody>
      </p:sp>
      <p:sp>
        <p:nvSpPr>
          <p:cNvPr id="2" name="AutoShape 2" descr="message_queue_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message_queue_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message_queue_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72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2608</Words>
  <Application>Microsoft Office PowerPoint</Application>
  <PresentationFormat>Custom</PresentationFormat>
  <Paragraphs>419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Ashraf Uddin</dc:creator>
  <cp:lastModifiedBy>Ashraf</cp:lastModifiedBy>
  <cp:revision>265</cp:revision>
  <dcterms:created xsi:type="dcterms:W3CDTF">2023-09-18T11:08:30Z</dcterms:created>
  <dcterms:modified xsi:type="dcterms:W3CDTF">2025-11-02T14:59:28Z</dcterms:modified>
</cp:coreProperties>
</file>