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2" r:id="rId2"/>
    <p:sldId id="263" r:id="rId3"/>
    <p:sldId id="264" r:id="rId4"/>
    <p:sldId id="265" r:id="rId5"/>
    <p:sldId id="258" r:id="rId6"/>
    <p:sldId id="260" r:id="rId7"/>
    <p:sldId id="266" r:id="rId8"/>
    <p:sldId id="261" r:id="rId9"/>
    <p:sldId id="267" r:id="rId10"/>
    <p:sldId id="268" r:id="rId11"/>
    <p:sldId id="269" r:id="rId12"/>
    <p:sldId id="270" r:id="rId13"/>
    <p:sldId id="271" r:id="rId14"/>
    <p:sldId id="279" r:id="rId15"/>
    <p:sldId id="280" r:id="rId16"/>
    <p:sldId id="282" r:id="rId17"/>
    <p:sldId id="281" r:id="rId18"/>
    <p:sldId id="284" r:id="rId19"/>
    <p:sldId id="285" r:id="rId20"/>
    <p:sldId id="286" r:id="rId21"/>
    <p:sldId id="287" r:id="rId22"/>
    <p:sldId id="288" r:id="rId23"/>
    <p:sldId id="290" r:id="rId24"/>
    <p:sldId id="289" r:id="rId25"/>
    <p:sldId id="272" r:id="rId26"/>
    <p:sldId id="273" r:id="rId27"/>
    <p:sldId id="274" r:id="rId28"/>
    <p:sldId id="275" r:id="rId29"/>
    <p:sldId id="276" r:id="rId30"/>
    <p:sldId id="277" r:id="rId31"/>
    <p:sldId id="27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1:18:0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0 0 376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11:18:09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1 384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11:18:20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0 376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1:18:25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83 398 384,'0'0'-8,"-82"-398"8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9E94A-69B5-4EB2-946B-9F0B55C854A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8108C-7A65-4E29-BB97-0193868182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3788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938C-8F81-3D5D-A68B-687E886D1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562337-6598-760D-36F7-210803857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2FA32-C95B-1D5A-5835-79FE0A565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2699-F9A0-4DBF-879E-04983D165F60}" type="datetime1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455D4-0924-D2D4-E888-E7B4B7D9D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9CD86-F23D-678D-FA2B-7BB29D39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20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65B08-8561-61ED-8D29-B4DF9D464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27719-5230-5CC9-82F8-853EC9824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D580D-A327-AEB5-736C-F67DDB89D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BE25-9A02-4FF7-A819-4B8DA2236554}" type="datetime1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3FD59-BFA9-1FCF-A3A4-0E4A02434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F8E46-0853-4D9E-CBF3-A5036F19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262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1863-8805-5EFF-D344-F78E83DB5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45185-D480-E9ED-A637-4202B3349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92654-9C79-EBBB-B732-80055C58A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29D94-3476-4183-85D7-AB20F6999429}" type="datetime1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935E1-BBE3-47F9-7F23-84899768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E038A-2782-2B9B-42DF-8AA0F6D1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973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71520-2C7F-4694-5459-63466ACD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549BC-942B-2827-FBFE-40B0630A4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BD812-DA53-4BF0-4962-51B275223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31AEE-0B4B-592C-706C-BA15C5D38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043C2-D694-4B73-A769-AAC359184494}" type="datetime1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8DD22-91F8-5FAB-18B6-1ACDC90D9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9EE26-C96D-E9DA-889A-D6FC08F7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50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2EA3-25A0-A693-6155-126326CA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AFBE6-AC51-DE29-D337-80E728B24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B329B-2558-6BF4-9EF2-D9BE02C1C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A92BB-F1F8-E0C4-8EE4-B1FD8655A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AAD05-9A1B-2550-FC90-6A25EA34C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57C881-0E30-6577-3C33-3AD26070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C7F-D740-49AD-8117-A25BD322793F}" type="datetime1">
              <a:rPr lang="en-GB" smtClean="0"/>
              <a:t>04/11/2025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9CAB12-1BA8-5C68-A92E-7A3E488E1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4A99E9-C3DE-CFE3-2196-CA581D6A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12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801EE-6ADD-3E9B-8B37-AC6E54034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5985D4-5970-DB26-F8B7-B8163D35D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B3330-D013-4F53-99EE-FA4E14EED1ED}" type="datetime1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6595F7-DD79-9A92-5A3A-DD0F38D6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B2B0D-E795-F021-6AEF-59A6C307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241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908CA-6D52-3801-3691-15A5E3787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8AEA6-1D6A-481D-A3DF-29ABD4449136}" type="datetime1">
              <a:rPr lang="en-GB" smtClean="0"/>
              <a:t>04/11/2025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A4128B-0FE0-AB9E-B1F7-48B264824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793DE-E275-EA62-1BE3-FB7514554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730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1317C-B077-2002-E4AA-4E13B8F55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8615D-D7CA-7791-6BEA-3D226FA41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211E0-4D0D-93F2-6DAF-B1B501C11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21300-1760-B0AD-C7B6-3E336BD89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8788-F4F7-4ECE-B95F-DDA15E37A402}" type="datetime1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6476F-3829-2A6E-1E4E-3801A5187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EB21F-32F8-DAE6-87FE-79AAE24B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47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614ED-1BFB-1D46-4B62-546D21302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9DE307-882C-3AE0-ECA4-70D7753C2F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156ED-D3E2-6F44-27BC-756E3A0A5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EB767-F564-E55D-4782-54527BD73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08DD-13F8-4DD5-A802-E746736570A8}" type="datetime1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C5156-CD80-EEA0-8AC3-01D10C4A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8BE35-752A-A73C-C06F-2D6DCE352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19B9-4D55-DD67-BAD5-A151882D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ECC40-8D0F-280F-7DFA-D7D16D026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4CC6A-7BD5-0672-A128-56504670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733E-F508-4315-A759-93080B87757E}" type="datetime1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2BE23-92D8-9407-6F57-359C415C3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4E3DC-82A1-A272-9175-6273C874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08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417E13-1C81-20AF-E23A-AB51E93EA0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81EC3-94C5-E734-4F3B-D9F42595D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ADA3B-6C04-0094-974B-8E44C9EB8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2343-4584-4574-9ECC-E033E0065FF1}" type="datetime1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7C18A-6CE4-6638-893A-089CF71B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6D4ED-DDA4-BC09-19AA-387A41AB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361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325DA4-B586-1380-F465-5A40A3F75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2EA88-2189-D5C9-0818-5C30B49C2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B4113-C1A6-5AB5-8826-84C201CAD4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8B93C-9DB8-40BB-95C5-F8284A0B6BFD}" type="datetime1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85A94-ECE6-CD19-4349-272AB6ADA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0C6FC-9EC1-BD61-7E98-2B22B458D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89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B1E97-8713-4AFB-E856-2F85D3A4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9FC35F-F76F-0319-FD1F-440AA55C379F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0F9701-F69E-2F23-3328-BA954E14C316}"/>
              </a:ext>
            </a:extLst>
          </p:cNvPr>
          <p:cNvSpPr txBox="1"/>
          <p:nvPr/>
        </p:nvSpPr>
        <p:spPr>
          <a:xfrm>
            <a:off x="642256" y="1513114"/>
            <a:ext cx="1090748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Although the storage capacities of hard drives have increased  massively over the years, access speeds—the rate at which data can be read from drives—  have not kept up.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One typical drive from </a:t>
            </a:r>
            <a:r>
              <a:rPr lang="en-US" sz="2400" b="1" dirty="0"/>
              <a:t>1990</a:t>
            </a:r>
            <a:r>
              <a:rPr lang="en-US" sz="2400" dirty="0"/>
              <a:t> could store </a:t>
            </a:r>
            <a:r>
              <a:rPr lang="en-US" sz="2400" dirty="0">
                <a:solidFill>
                  <a:srgbClr val="FF0000"/>
                </a:solidFill>
              </a:rPr>
              <a:t>1,370 MB </a:t>
            </a:r>
            <a:r>
              <a:rPr lang="en-US" sz="2400" dirty="0"/>
              <a:t>of data and had a  transfer speed of </a:t>
            </a:r>
            <a:r>
              <a:rPr lang="en-US" sz="2400" dirty="0">
                <a:solidFill>
                  <a:srgbClr val="FF0000"/>
                </a:solidFill>
              </a:rPr>
              <a:t>4.4 MB/s</a:t>
            </a:r>
            <a:r>
              <a:rPr lang="en-US" sz="2400" dirty="0"/>
              <a:t>, so you could read all the data from a full drive in around  five minutes.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Over 20 years later, </a:t>
            </a:r>
            <a:r>
              <a:rPr lang="en-US" sz="2400" dirty="0">
                <a:solidFill>
                  <a:srgbClr val="FF0000"/>
                </a:solidFill>
              </a:rPr>
              <a:t>1-terabyte </a:t>
            </a:r>
            <a:r>
              <a:rPr lang="en-US" sz="2400" dirty="0"/>
              <a:t>drives are the norm, but the transfer speed  is around </a:t>
            </a:r>
            <a:r>
              <a:rPr lang="en-US" sz="2400" dirty="0">
                <a:solidFill>
                  <a:srgbClr val="FF0000"/>
                </a:solidFill>
              </a:rPr>
              <a:t>100 MB/s</a:t>
            </a:r>
            <a:r>
              <a:rPr lang="en-US" sz="2400" dirty="0"/>
              <a:t>, so it takes more than </a:t>
            </a:r>
            <a:r>
              <a:rPr lang="en-US" sz="2400" dirty="0">
                <a:solidFill>
                  <a:srgbClr val="FF0000"/>
                </a:solidFill>
              </a:rPr>
              <a:t>two and a half hours </a:t>
            </a:r>
            <a:r>
              <a:rPr lang="en-US" sz="2400" dirty="0"/>
              <a:t>to read all the data off  the disk.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This is a long time to read all data on a single drive—and writing is even slower.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F56B4D-25BB-C0A9-C697-A260939DB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87AA0D-FDCA-31F4-6E83-4F07F47FBDD6}"/>
              </a:ext>
            </a:extLst>
          </p:cNvPr>
          <p:cNvSpPr txBox="1"/>
          <p:nvPr/>
        </p:nvSpPr>
        <p:spPr>
          <a:xfrm>
            <a:off x="3047999" y="6287219"/>
            <a:ext cx="60960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dirty="0"/>
              <a:t>These specifications are for the Seagate ST-41600n.</a:t>
            </a:r>
          </a:p>
        </p:txBody>
      </p:sp>
    </p:spTree>
    <p:extLst>
      <p:ext uri="{BB962C8B-B14F-4D97-AF65-F5344CB8AC3E}">
        <p14:creationId xmlns:p14="http://schemas.microsoft.com/office/powerpoint/2010/main" val="3777100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8C6C6-8C6E-4F80-AC1E-EB3B9AA3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B75678-6B43-2D7F-D330-DA57F2055FA2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39172-1795-7C19-15D0-2ACB723E4151}"/>
              </a:ext>
            </a:extLst>
          </p:cNvPr>
          <p:cNvSpPr txBox="1"/>
          <p:nvPr/>
        </p:nvSpPr>
        <p:spPr>
          <a:xfrm>
            <a:off x="642256" y="1513114"/>
            <a:ext cx="109074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The obvious way to reduce the time is to read from multiple disks at once. Imagine if we had </a:t>
            </a:r>
            <a:r>
              <a:rPr lang="en-US" sz="2400" dirty="0">
                <a:solidFill>
                  <a:srgbClr val="FF0000"/>
                </a:solidFill>
              </a:rPr>
              <a:t>100 drives</a:t>
            </a:r>
            <a:r>
              <a:rPr lang="en-US" sz="2400" dirty="0"/>
              <a:t>, each holding one hundredth of the data. Working in parallel, we could read the data in under </a:t>
            </a:r>
            <a:r>
              <a:rPr lang="en-US" sz="2400" dirty="0">
                <a:solidFill>
                  <a:srgbClr val="FF0000"/>
                </a:solidFill>
              </a:rPr>
              <a:t>two minutes</a:t>
            </a:r>
            <a:r>
              <a:rPr lang="en-US" sz="2400" dirty="0"/>
              <a:t>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Using only one hundredth of a disk may seem wasteful. But we can store </a:t>
            </a:r>
            <a:r>
              <a:rPr lang="en-US" sz="2400" dirty="0">
                <a:solidFill>
                  <a:srgbClr val="FF0000"/>
                </a:solidFill>
              </a:rPr>
              <a:t>100 datasets</a:t>
            </a:r>
            <a:r>
              <a:rPr lang="en-US" sz="2400" dirty="0"/>
              <a:t>, each of which is </a:t>
            </a:r>
            <a:r>
              <a:rPr lang="en-US" sz="2400" dirty="0">
                <a:solidFill>
                  <a:srgbClr val="FF0000"/>
                </a:solidFill>
              </a:rPr>
              <a:t>1 terabyte</a:t>
            </a:r>
            <a:r>
              <a:rPr lang="en-US" sz="2400" dirty="0"/>
              <a:t>, and provide shared access to them.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7D241C-ACB9-CB9C-EF8A-3D894EE2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</a:t>
            </a:fld>
            <a:endParaRPr lang="en-GB" dirty="0"/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2E15DDB6-10E3-77F0-025A-8B355FDFDC6E}"/>
              </a:ext>
            </a:extLst>
          </p:cNvPr>
          <p:cNvSpPr/>
          <p:nvPr/>
        </p:nvSpPr>
        <p:spPr>
          <a:xfrm>
            <a:off x="3744686" y="4473121"/>
            <a:ext cx="3548743" cy="1883229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New Problems</a:t>
            </a:r>
          </a:p>
        </p:txBody>
      </p:sp>
    </p:spTree>
    <p:extLst>
      <p:ext uri="{BB962C8B-B14F-4D97-AF65-F5344CB8AC3E}">
        <p14:creationId xmlns:p14="http://schemas.microsoft.com/office/powerpoint/2010/main" val="87132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C1363-FA06-5092-164B-2BE4E7CE1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675BAD-FA6B-03C1-01D9-78DF045FF0A0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34758-8515-AF23-4AD7-DEDD062D373E}"/>
              </a:ext>
            </a:extLst>
          </p:cNvPr>
          <p:cNvSpPr txBox="1"/>
          <p:nvPr/>
        </p:nvSpPr>
        <p:spPr>
          <a:xfrm>
            <a:off x="642256" y="1513114"/>
            <a:ext cx="109074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The first problem </a:t>
            </a:r>
            <a:r>
              <a:rPr lang="en-US" sz="2400" dirty="0"/>
              <a:t>to solve is </a:t>
            </a:r>
            <a:r>
              <a:rPr lang="en-US" sz="2400" dirty="0">
                <a:solidFill>
                  <a:srgbClr val="FF0000"/>
                </a:solidFill>
              </a:rPr>
              <a:t>hardware failure</a:t>
            </a:r>
            <a:r>
              <a:rPr lang="en-US" sz="2400" dirty="0"/>
              <a:t>: as soon as you start using many pieces of hardware, the chance that one will fail is fairly high.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A common way of avoiding data  loss is through replication: redundant copies of the data are kept by the system so that in the event of failure, there is another copy available.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This is how </a:t>
            </a:r>
            <a:r>
              <a:rPr lang="en-US" sz="2400" dirty="0">
                <a:solidFill>
                  <a:srgbClr val="FF0000"/>
                </a:solidFill>
              </a:rPr>
              <a:t>RAID</a:t>
            </a:r>
            <a:r>
              <a:rPr lang="en-US" sz="2400" dirty="0"/>
              <a:t> (Redundant Array of Independent Disks) works, for instance, although Hadoop’s filesystem, the Hadoop Distributed Filesystem (</a:t>
            </a:r>
            <a:r>
              <a:rPr lang="en-US" sz="2400" dirty="0">
                <a:solidFill>
                  <a:srgbClr val="FF0000"/>
                </a:solidFill>
              </a:rPr>
              <a:t>HDFS</a:t>
            </a:r>
            <a:r>
              <a:rPr lang="en-US" sz="2400" dirty="0"/>
              <a:t>), takes a slightly different approach, as you shall see later.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5418E1-43AA-AA5D-F0D3-C4211213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3786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A385F-C5CC-4433-151A-A3CBD83C5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27419F-F082-8C50-3115-A1CE49D568F6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E039A1-7552-56F3-EE69-E9A46F335ACF}"/>
              </a:ext>
            </a:extLst>
          </p:cNvPr>
          <p:cNvSpPr txBox="1"/>
          <p:nvPr/>
        </p:nvSpPr>
        <p:spPr>
          <a:xfrm>
            <a:off x="642256" y="1513114"/>
            <a:ext cx="1090748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The second problem </a:t>
            </a:r>
            <a:r>
              <a:rPr lang="en-US" sz="2400" dirty="0"/>
              <a:t>is that most analysis tasks need to be able to </a:t>
            </a:r>
            <a:r>
              <a:rPr lang="en-US" sz="2400" dirty="0">
                <a:solidFill>
                  <a:srgbClr val="FF0000"/>
                </a:solidFill>
              </a:rPr>
              <a:t>combine the data </a:t>
            </a:r>
            <a:r>
              <a:rPr lang="en-US" sz="2400" dirty="0"/>
              <a:t>in some way, and data read from one disk may need to be combined with data from any of the other 99 disks.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Various distributed systems allow data to be combined from multiple sources, but doing this correctly is notoriously challenging.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MapReduce</a:t>
            </a:r>
            <a:r>
              <a:rPr lang="en-US" sz="2400" dirty="0"/>
              <a:t> provides a programming model that abstracts the problem from disk reads and writes, transforming it into a computation over sets of keys and values. The important point for this is that there are two parts to the computation—</a:t>
            </a:r>
            <a:r>
              <a:rPr lang="en-US" sz="2400" dirty="0">
                <a:solidFill>
                  <a:srgbClr val="FF0000"/>
                </a:solidFill>
              </a:rPr>
              <a:t>the map and the reduce</a:t>
            </a:r>
            <a:r>
              <a:rPr lang="en-US" sz="2400" dirty="0"/>
              <a:t>—and it’s the interface between the two where the “mixing” occurs. Like HDFS, MapReduce has built-in reliability.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AE9A22-637E-111A-A592-CCDF5737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590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HDFS?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E7BF7-9240-E61C-7520-97ED4F1594B0}"/>
              </a:ext>
            </a:extLst>
          </p:cNvPr>
          <p:cNvSpPr txBox="1"/>
          <p:nvPr/>
        </p:nvSpPr>
        <p:spPr>
          <a:xfrm>
            <a:off x="642256" y="1513114"/>
            <a:ext cx="1090748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HDFS: The Storage Foundation of Hadoop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Core Concept:</a:t>
            </a:r>
            <a:r>
              <a:rPr lang="en-US" sz="2400" dirty="0"/>
              <a:t> HDFS (Hadoop Distributed File System) is a distributed file system designed to run on commodity hardware. Think of it as a giant, virtual hard drive built from many smaller, standard computers.</a:t>
            </a:r>
          </a:p>
          <a:p>
            <a:endParaRPr lang="en-US" sz="2400" b="1" dirty="0"/>
          </a:p>
          <a:p>
            <a:r>
              <a:rPr lang="en-US" sz="2400" b="1" dirty="0"/>
              <a:t>Key Characteristics: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Distributed:</a:t>
            </a:r>
            <a:r>
              <a:rPr lang="en-US" sz="2400" dirty="0"/>
              <a:t> Data is spread across many machines.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Fault-Tolerant:</a:t>
            </a:r>
            <a:r>
              <a:rPr lang="en-US" sz="2400" dirty="0"/>
              <a:t> Automatically recovers from hardware failures.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High-Throughput:</a:t>
            </a:r>
            <a:r>
              <a:rPr lang="en-US" sz="2400" dirty="0"/>
              <a:t> Optimized for streaming access to large datasets (Write-Once, Read-Many).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Scalable:</a:t>
            </a:r>
            <a:r>
              <a:rPr lang="en-US" sz="2400" dirty="0"/>
              <a:t> Can easily add more machines (nodes) to increase storage capacity.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5F742D-33AB-5437-1217-F3315E86B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2860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1B7F8-D5C5-3365-AAEE-79FFFD197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E8E6EA-0CB9-8769-5200-2071DBC9303C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Core Components (Master/Slave)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24EAC4-D20F-20A3-4845-7CBCD19C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6</a:t>
            </a:fld>
            <a:endParaRPr lang="en-GB" dirty="0"/>
          </a:p>
        </p:txBody>
      </p:sp>
      <p:pic>
        <p:nvPicPr>
          <p:cNvPr id="2051" name="Picture 3" descr="HDFS Architecture Guide">
            <a:extLst>
              <a:ext uri="{FF2B5EF4-FFF2-40B4-BE49-F238E27FC236}">
                <a16:creationId xmlns:a16="http://schemas.microsoft.com/office/drawing/2014/main" id="{ED01CF0D-CD40-4B50-25B2-1B8A91997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271" y="999711"/>
            <a:ext cx="7493454" cy="5178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80F046-29DA-A827-4C50-699C29C2F78C}"/>
              </a:ext>
            </a:extLst>
          </p:cNvPr>
          <p:cNvSpPr txBox="1"/>
          <p:nvPr/>
        </p:nvSpPr>
        <p:spPr>
          <a:xfrm>
            <a:off x="3047998" y="6396898"/>
            <a:ext cx="6096000" cy="338554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https://hadoop.apache.org/docs/r1.2.1/hdfs_design.html</a:t>
            </a:r>
          </a:p>
        </p:txBody>
      </p:sp>
    </p:spTree>
    <p:extLst>
      <p:ext uri="{BB962C8B-B14F-4D97-AF65-F5344CB8AC3E}">
        <p14:creationId xmlns:p14="http://schemas.microsoft.com/office/powerpoint/2010/main" val="81088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22036-6A18-0008-51B9-52CCE9154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CA79C5-E793-B3EF-397E-264C12824AB3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Core Components (Master/Slave)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CC897-2319-01F6-4BF9-5B6FAF36BEED}"/>
              </a:ext>
            </a:extLst>
          </p:cNvPr>
          <p:cNvSpPr txBox="1"/>
          <p:nvPr/>
        </p:nvSpPr>
        <p:spPr>
          <a:xfrm>
            <a:off x="642256" y="1513114"/>
            <a:ext cx="10907486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The HDFS Master-Slave Architecture</a:t>
            </a:r>
          </a:p>
          <a:p>
            <a:pPr algn="just"/>
            <a:endParaRPr lang="en-US" sz="2400" dirty="0"/>
          </a:p>
          <a:p>
            <a:r>
              <a:rPr lang="en-US" sz="2400" b="1" dirty="0"/>
              <a:t>1. </a:t>
            </a:r>
            <a:r>
              <a:rPr lang="en-US" sz="2400" b="1" dirty="0" err="1"/>
              <a:t>NameNode</a:t>
            </a:r>
            <a:r>
              <a:rPr lang="en-US" sz="2400" b="1" dirty="0"/>
              <a:t> (The Master ):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"brain" of the file system.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Manages the file system </a:t>
            </a:r>
            <a:r>
              <a:rPr lang="en-US" sz="2400" b="1" dirty="0"/>
              <a:t>metadata</a:t>
            </a:r>
            <a:r>
              <a:rPr lang="en-US" sz="2400" dirty="0"/>
              <a:t> (the namespace).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It knows </a:t>
            </a:r>
            <a:r>
              <a:rPr lang="en-US" sz="2400" i="1" dirty="0"/>
              <a:t>what</a:t>
            </a:r>
            <a:r>
              <a:rPr lang="en-US" sz="2400" dirty="0"/>
              <a:t> files exist, </a:t>
            </a:r>
            <a:r>
              <a:rPr lang="en-US" sz="2400" i="1" dirty="0"/>
              <a:t>where</a:t>
            </a:r>
            <a:r>
              <a:rPr lang="en-US" sz="2400" dirty="0"/>
              <a:t> their blocks are located, and the file-to-block mapping.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Client applications talk to the </a:t>
            </a:r>
            <a:r>
              <a:rPr lang="en-US" sz="2400" dirty="0" err="1"/>
              <a:t>NameNode</a:t>
            </a:r>
            <a:r>
              <a:rPr lang="en-US" sz="2400" dirty="0"/>
              <a:t> for all file system operations (open, close, rename).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The </a:t>
            </a:r>
            <a:r>
              <a:rPr lang="en-US" sz="2400" dirty="0" err="1">
                <a:solidFill>
                  <a:srgbClr val="FF0000"/>
                </a:solidFill>
              </a:rPr>
              <a:t>NameNode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i="1" dirty="0">
                <a:solidFill>
                  <a:srgbClr val="FF0000"/>
                </a:solidFill>
              </a:rPr>
              <a:t>does not</a:t>
            </a:r>
            <a:r>
              <a:rPr lang="en-US" sz="2400" dirty="0">
                <a:solidFill>
                  <a:srgbClr val="FF0000"/>
                </a:solidFill>
              </a:rPr>
              <a:t> store the actual data.</a:t>
            </a:r>
          </a:p>
          <a:p>
            <a:pPr algn="just"/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854C5-FFAA-6CC3-F1A0-C26B9F58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3222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244D5-ABA1-5A0A-1437-98987F30E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A332DF-EF61-3F03-D2AC-FFF2CB1D4188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Core Components (Master/Slave)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1666CB-8602-06AD-9B4A-72A45375C32E}"/>
              </a:ext>
            </a:extLst>
          </p:cNvPr>
          <p:cNvSpPr txBox="1"/>
          <p:nvPr/>
        </p:nvSpPr>
        <p:spPr>
          <a:xfrm>
            <a:off x="642256" y="1513114"/>
            <a:ext cx="1090748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The HDFS Master-Slave Architecture</a:t>
            </a:r>
          </a:p>
          <a:p>
            <a:pPr algn="just"/>
            <a:endParaRPr lang="en-US" sz="2400" dirty="0"/>
          </a:p>
          <a:p>
            <a:r>
              <a:rPr lang="en-US" sz="2400" b="1" dirty="0"/>
              <a:t>2. </a:t>
            </a:r>
            <a:r>
              <a:rPr lang="en-US" sz="2400" b="1" dirty="0" err="1"/>
              <a:t>DataNodes</a:t>
            </a:r>
            <a:r>
              <a:rPr lang="en-US" sz="2400" b="1" dirty="0"/>
              <a:t> (The Slaves/Workers ):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"muscle" of the file system.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Store the actual data in </a:t>
            </a:r>
            <a:r>
              <a:rPr lang="en-US" sz="2400" b="1" dirty="0"/>
              <a:t>blocks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Run on each worker machine in the cluster.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Constantly "check-in" with the </a:t>
            </a:r>
            <a:r>
              <a:rPr lang="en-US" sz="2400" dirty="0" err="1"/>
              <a:t>NameNode</a:t>
            </a:r>
            <a:r>
              <a:rPr lang="en-US" sz="2400" dirty="0"/>
              <a:t> by sending </a:t>
            </a:r>
            <a:r>
              <a:rPr lang="en-US" sz="2400" b="1" dirty="0"/>
              <a:t>Heartbeats</a:t>
            </a:r>
            <a:r>
              <a:rPr lang="en-US" sz="2400" dirty="0"/>
              <a:t> (to prove they are alive) and </a:t>
            </a:r>
            <a:r>
              <a:rPr lang="en-US" sz="2400" b="1" dirty="0"/>
              <a:t>Block Reports</a:t>
            </a:r>
            <a:r>
              <a:rPr lang="en-US" sz="2400" dirty="0"/>
              <a:t> (to list the blocks they store).</a:t>
            </a:r>
          </a:p>
          <a:p>
            <a:pPr algn="just"/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EFBDE-69C5-EA56-CF08-61AB8A88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4520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8D12E-7A6A-056F-104F-10893E199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AE3B6E-BC7E-17FE-3D24-057DB446625C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Core Components: Blocks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3D09F-46F0-42B2-D8EE-4B333F02A238}"/>
              </a:ext>
            </a:extLst>
          </p:cNvPr>
          <p:cNvSpPr txBox="1"/>
          <p:nvPr/>
        </p:nvSpPr>
        <p:spPr>
          <a:xfrm>
            <a:off x="642256" y="1513114"/>
            <a:ext cx="1090748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What is a Block?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HDFS splits large files into smaller, fixed-size chunks called blocks.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Typical Size:</a:t>
            </a:r>
            <a:r>
              <a:rPr lang="en-US" sz="2400" dirty="0"/>
              <a:t> 128MB or 256MB (much larger than traditional file system blocks, e.g., 4KB).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Why use large blocks?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Minimizes seek time:</a:t>
            </a:r>
            <a:r>
              <a:rPr lang="en-US" sz="2400" dirty="0"/>
              <a:t> It's more efficient to read a large, continuous chunk of data than many small, scattered pieces.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Reduces metadata:</a:t>
            </a:r>
            <a:r>
              <a:rPr lang="en-US" sz="2400" dirty="0"/>
              <a:t> Fewer blocks per file means the </a:t>
            </a:r>
            <a:r>
              <a:rPr lang="en-US" sz="2400" dirty="0" err="1"/>
              <a:t>NameNode</a:t>
            </a:r>
            <a:r>
              <a:rPr lang="en-US" sz="2400" dirty="0"/>
              <a:t> has less metadata to manage.</a:t>
            </a:r>
          </a:p>
          <a:p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28DF28-B0E8-7B39-3CBF-49EA00CF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9540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1B5CB-A73B-28E4-7A92-93B35C209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F8E4C9-6A2E-E9CB-335F-12838CBB82B7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HDFS: Fault Tolerance &amp; Replication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C34D2-47A8-B08B-3E0E-6F7DA2F4C8A3}"/>
              </a:ext>
            </a:extLst>
          </p:cNvPr>
          <p:cNvSpPr txBox="1"/>
          <p:nvPr/>
        </p:nvSpPr>
        <p:spPr>
          <a:xfrm>
            <a:off x="642256" y="1513114"/>
            <a:ext cx="558437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Surviving Hardware Failure: </a:t>
            </a:r>
            <a:r>
              <a:rPr lang="en-US" sz="2000" dirty="0"/>
              <a:t>Commodity hardware </a:t>
            </a:r>
            <a:r>
              <a:rPr lang="en-US" sz="2000" i="1" dirty="0"/>
              <a:t>will</a:t>
            </a:r>
            <a:r>
              <a:rPr lang="en-US" sz="2000" dirty="0"/>
              <a:t> fail. What happens if a </a:t>
            </a:r>
            <a:r>
              <a:rPr lang="en-US" sz="2000" dirty="0" err="1"/>
              <a:t>DataNode</a:t>
            </a:r>
            <a:r>
              <a:rPr lang="en-US" sz="2000" dirty="0"/>
              <a:t> (and its hard drives) dies?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Solution: Replication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HDFS automatically copies each block to multiple </a:t>
            </a:r>
            <a:r>
              <a:rPr lang="en-US" dirty="0" err="1"/>
              <a:t>DataNodes</a:t>
            </a:r>
            <a:r>
              <a:rPr lang="en-US" dirty="0"/>
              <a:t> (default </a:t>
            </a:r>
            <a:r>
              <a:rPr lang="en-US" b="1" dirty="0"/>
              <a:t>replication factor is 3</a:t>
            </a:r>
            <a:r>
              <a:rPr lang="en-US" dirty="0"/>
              <a:t>).</a:t>
            </a:r>
          </a:p>
          <a:p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8CFA46-CA1E-D75A-1EB5-8CFFEA34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10</a:t>
            </a:fld>
            <a:endParaRPr lang="en-GB" dirty="0"/>
          </a:p>
        </p:txBody>
      </p:sp>
      <p:pic>
        <p:nvPicPr>
          <p:cNvPr id="4" name="Picture 3" descr="HDFS Architecture Guide">
            <a:extLst>
              <a:ext uri="{FF2B5EF4-FFF2-40B4-BE49-F238E27FC236}">
                <a16:creationId xmlns:a16="http://schemas.microsoft.com/office/drawing/2014/main" id="{EFFD958B-0D62-C00F-08EC-81BC20422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487" y="1152260"/>
            <a:ext cx="5693228" cy="28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47180E-1391-1F10-D46A-7B28C7D5D6E9}"/>
              </a:ext>
            </a:extLst>
          </p:cNvPr>
          <p:cNvSpPr txBox="1"/>
          <p:nvPr/>
        </p:nvSpPr>
        <p:spPr>
          <a:xfrm>
            <a:off x="642256" y="3980852"/>
            <a:ext cx="107931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Rack Awareness:</a:t>
            </a:r>
            <a:r>
              <a:rPr lang="en-US" dirty="0"/>
              <a:t> The system tries to place replicas on different "racks" (physical groups of servers connected to the same network switch).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Replica 1:</a:t>
            </a:r>
            <a:r>
              <a:rPr lang="en-US" dirty="0"/>
              <a:t> On the same node as the client (if possible).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Replica 2:</a:t>
            </a:r>
            <a:r>
              <a:rPr lang="en-US" dirty="0"/>
              <a:t> On a different node in the </a:t>
            </a:r>
            <a:r>
              <a:rPr lang="en-US" i="1" dirty="0"/>
              <a:t>same rack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Replica 3:</a:t>
            </a:r>
            <a:r>
              <a:rPr lang="en-US" dirty="0"/>
              <a:t> On a node in a </a:t>
            </a:r>
            <a:r>
              <a:rPr lang="en-US" i="1" dirty="0"/>
              <a:t>different rack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Benefit:</a:t>
            </a:r>
            <a:r>
              <a:rPr lang="en-US" dirty="0"/>
              <a:t> This protects data from both individual disk/machine failure and entire rack failures (e.g., a switch dying).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 </a:t>
            </a:r>
            <a:r>
              <a:rPr lang="en-US" dirty="0" err="1"/>
              <a:t>DataNode</a:t>
            </a:r>
            <a:r>
              <a:rPr lang="en-US" dirty="0"/>
              <a:t> dies, the </a:t>
            </a:r>
            <a:r>
              <a:rPr lang="en-US" dirty="0" err="1"/>
              <a:t>NameNode</a:t>
            </a:r>
            <a:r>
              <a:rPr lang="en-US" dirty="0"/>
              <a:t> detects this (missed heartbeats) and automatically re-replicates its blocks to other live nodes.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941669" y="6517970"/>
            <a:ext cx="3786999" cy="276999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1200" dirty="0"/>
              <a:t>https://hadoop.apache.org/docs/r1.2.1/hdfs_design.html</a:t>
            </a:r>
          </a:p>
        </p:txBody>
      </p:sp>
    </p:spTree>
    <p:extLst>
      <p:ext uri="{BB962C8B-B14F-4D97-AF65-F5344CB8AC3E}">
        <p14:creationId xmlns:p14="http://schemas.microsoft.com/office/powerpoint/2010/main" val="122300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91CB5-28D4-63DE-9CE0-32B52E96E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AE5E70-4DB6-B192-21BB-3B65A88D3D0A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Read/Write Operations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BEDE7-CC11-2191-CC3A-ABAFA001206D}"/>
              </a:ext>
            </a:extLst>
          </p:cNvPr>
          <p:cNvSpPr txBox="1"/>
          <p:nvPr/>
        </p:nvSpPr>
        <p:spPr>
          <a:xfrm>
            <a:off x="642255" y="1513114"/>
            <a:ext cx="577579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File Write:</a:t>
            </a:r>
            <a:endParaRPr lang="en-US" sz="24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Client to </a:t>
            </a:r>
            <a:r>
              <a:rPr lang="en-US" sz="2400" dirty="0" err="1"/>
              <a:t>NameNode</a:t>
            </a:r>
            <a:r>
              <a:rPr lang="en-US" sz="2400" dirty="0"/>
              <a:t>: "I want to create file </a:t>
            </a:r>
            <a:r>
              <a:rPr lang="en-US" dirty="0"/>
              <a:t>data.txt</a:t>
            </a:r>
            <a:r>
              <a:rPr lang="en-US" sz="2400" dirty="0"/>
              <a:t>."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 err="1"/>
              <a:t>NameNode</a:t>
            </a:r>
            <a:r>
              <a:rPr lang="en-US" sz="2400" dirty="0"/>
              <a:t> to Client: "OK. Start writing your blocks to </a:t>
            </a:r>
            <a:r>
              <a:rPr lang="en-US" sz="2400" dirty="0" err="1"/>
              <a:t>DataNodes</a:t>
            </a:r>
            <a:r>
              <a:rPr lang="en-US" sz="2400" dirty="0"/>
              <a:t> A, B, and C."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Client to </a:t>
            </a:r>
            <a:r>
              <a:rPr lang="en-US" sz="2400" dirty="0" err="1"/>
              <a:t>DataNode</a:t>
            </a:r>
            <a:r>
              <a:rPr lang="en-US" sz="2400" dirty="0"/>
              <a:t> A: Client writes the first block.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Replication Pipeline: </a:t>
            </a:r>
            <a:r>
              <a:rPr lang="en-US" sz="2400" dirty="0" err="1"/>
              <a:t>DataNode</a:t>
            </a:r>
            <a:r>
              <a:rPr lang="en-US" sz="2400" dirty="0"/>
              <a:t> A forwards the block to B, and B forwards it to C.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Acknowledgements: C -&gt; B -&gt; A -&gt; Client. Once all 3 are written, the client asks the </a:t>
            </a:r>
            <a:r>
              <a:rPr lang="en-US" sz="2400" dirty="0" err="1"/>
              <a:t>NameNode</a:t>
            </a:r>
            <a:r>
              <a:rPr lang="en-US" sz="2400" dirty="0"/>
              <a:t> for the next block location.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FD77AF-C0EA-D82D-B9A4-F14FF4AD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11</a:t>
            </a:fld>
            <a:endParaRPr lang="en-GB" dirty="0"/>
          </a:p>
        </p:txBody>
      </p:sp>
      <p:pic>
        <p:nvPicPr>
          <p:cNvPr id="1026" name="Picture 2" descr="WRITING A FILE ON HDFS USING PIPELINE REPLICATION APPROACH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114" y="2049462"/>
            <a:ext cx="4267200" cy="335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83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7AF64-6DAA-3114-8C6A-FA6E1A7C7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202F63-61BB-04D2-193E-B96AA2726D82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Read/Write Operations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E55B4C-5FAA-E289-E7D4-392935D26CAD}"/>
              </a:ext>
            </a:extLst>
          </p:cNvPr>
          <p:cNvSpPr txBox="1"/>
          <p:nvPr/>
        </p:nvSpPr>
        <p:spPr>
          <a:xfrm>
            <a:off x="642256" y="1513114"/>
            <a:ext cx="63882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File Read:</a:t>
            </a:r>
            <a:endParaRPr lang="en-US" sz="24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Client to </a:t>
            </a:r>
            <a:r>
              <a:rPr lang="en-US" sz="2400" dirty="0" err="1"/>
              <a:t>NameNode</a:t>
            </a:r>
            <a:r>
              <a:rPr lang="en-US" sz="2400" dirty="0"/>
              <a:t>: "Where can I read </a:t>
            </a:r>
            <a:r>
              <a:rPr lang="en-US" dirty="0"/>
              <a:t>data.txt</a:t>
            </a:r>
            <a:r>
              <a:rPr lang="en-US" sz="2400" dirty="0"/>
              <a:t>?"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 err="1"/>
              <a:t>NameNode</a:t>
            </a:r>
            <a:r>
              <a:rPr lang="en-US" sz="2400" dirty="0"/>
              <a:t> to Client: "You can get Block 1 from </a:t>
            </a:r>
            <a:r>
              <a:rPr lang="en-US" sz="2400" dirty="0" err="1"/>
              <a:t>DataNodes</a:t>
            </a:r>
            <a:r>
              <a:rPr lang="en-US" sz="2400" dirty="0"/>
              <a:t> A, D, or F. You can get Block 2 from B, E, or G."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Client to </a:t>
            </a:r>
            <a:r>
              <a:rPr lang="en-US" sz="2400" dirty="0" err="1"/>
              <a:t>DataNodes</a:t>
            </a:r>
            <a:r>
              <a:rPr lang="en-US" sz="2400" dirty="0"/>
              <a:t>: The client reads the blocks </a:t>
            </a:r>
            <a:r>
              <a:rPr lang="en-US" sz="2400" i="1" dirty="0"/>
              <a:t>directly</a:t>
            </a:r>
            <a:r>
              <a:rPr lang="en-US" sz="2400" dirty="0"/>
              <a:t> from the </a:t>
            </a:r>
            <a:r>
              <a:rPr lang="en-US" sz="2400" dirty="0" err="1"/>
              <a:t>DataNodes</a:t>
            </a:r>
            <a:r>
              <a:rPr lang="en-US" sz="2400" dirty="0"/>
              <a:t> (choosing the closest one).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Key Insight: The </a:t>
            </a:r>
            <a:r>
              <a:rPr lang="en-US" sz="2400" dirty="0" err="1"/>
              <a:t>NameNode</a:t>
            </a:r>
            <a:r>
              <a:rPr lang="en-US" sz="2400" dirty="0"/>
              <a:t> coordinates, but the client reads/writes data </a:t>
            </a:r>
            <a:r>
              <a:rPr lang="en-US" sz="2400" i="1" dirty="0"/>
              <a:t>directly</a:t>
            </a:r>
            <a:r>
              <a:rPr lang="en-US" sz="2400" dirty="0"/>
              <a:t> to/from the </a:t>
            </a:r>
            <a:r>
              <a:rPr lang="en-US" sz="2400" dirty="0" err="1"/>
              <a:t>DataNodes</a:t>
            </a:r>
            <a:r>
              <a:rPr lang="en-US" sz="2400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461F96-1E7B-6E62-9765-33BA9CB10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12</a:t>
            </a:fld>
            <a:endParaRPr lang="en-GB" dirty="0"/>
          </a:p>
        </p:txBody>
      </p:sp>
      <p:pic>
        <p:nvPicPr>
          <p:cNvPr id="2050" name="Picture 2" descr="HDFS file read workflow |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607" y="1908612"/>
            <a:ext cx="3597514" cy="337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784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811B-0414-0BAC-7309-99555E0B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185240-C12E-772F-DC6E-3D3120EAB0C5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HDFS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27ECF-4503-8FB2-3801-1C17C4F7D74A}"/>
              </a:ext>
            </a:extLst>
          </p:cNvPr>
          <p:cNvSpPr txBox="1"/>
          <p:nvPr/>
        </p:nvSpPr>
        <p:spPr>
          <a:xfrm>
            <a:off x="642256" y="1513114"/>
            <a:ext cx="10907486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Not efficient for small files (metadata overhead)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Not suitable for low-latency data access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Write-once model limits flexibility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Scaling the </a:t>
            </a:r>
            <a:r>
              <a:rPr lang="en-US" sz="2400" dirty="0" err="1"/>
              <a:t>NameNode</a:t>
            </a:r>
            <a:r>
              <a:rPr lang="en-US" sz="2400" dirty="0"/>
              <a:t> is challenging (single point of failure, though HA setup mitigates)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8A917-2D81-EC48-CE5E-EA2A858E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3672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65E66-7C05-F748-9A48-3E0DEDD1E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301EF7-3477-4183-642F-8B78091D9585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MapReduce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9A7A7E-4549-2343-C2DE-10692D066EC8}"/>
              </a:ext>
            </a:extLst>
          </p:cNvPr>
          <p:cNvSpPr txBox="1"/>
          <p:nvPr/>
        </p:nvSpPr>
        <p:spPr>
          <a:xfrm>
            <a:off x="2503713" y="4105285"/>
            <a:ext cx="9100457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/>
              <a:t>Programming model for distributed data processing</a:t>
            </a:r>
            <a:endParaRPr lang="en-US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Developed by Google, implemented in Hadoop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Works on “divide and conquer” principle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/>
              <a:t>Input:</a:t>
            </a:r>
            <a:r>
              <a:rPr lang="en-US" sz="2400"/>
              <a:t> Large dataset → </a:t>
            </a:r>
            <a:r>
              <a:rPr lang="en-US" sz="2400" b="1"/>
              <a:t>Output:</a:t>
            </a:r>
            <a:r>
              <a:rPr lang="en-US" sz="2400"/>
              <a:t> Aggregated result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A76AD5-3F6C-0FD1-347F-571A88072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14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6515B1-28BB-3BF1-805D-2E39C906B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938" y="1128207"/>
            <a:ext cx="5980119" cy="29770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63910B-43D3-9EE9-69E9-9DCE5FC4C283}"/>
              </a:ext>
            </a:extLst>
          </p:cNvPr>
          <p:cNvSpPr txBox="1"/>
          <p:nvPr/>
        </p:nvSpPr>
        <p:spPr>
          <a:xfrm>
            <a:off x="4081421" y="6488668"/>
            <a:ext cx="4029153" cy="2616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1100" dirty="0"/>
              <a:t>https://www.geeksforgeeks.org/c-sharp/map-reduce-in-hadoop/</a:t>
            </a:r>
          </a:p>
        </p:txBody>
      </p:sp>
    </p:spTree>
    <p:extLst>
      <p:ext uri="{BB962C8B-B14F-4D97-AF65-F5344CB8AC3E}">
        <p14:creationId xmlns:p14="http://schemas.microsoft.com/office/powerpoint/2010/main" val="2017673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811B-0414-0BAC-7309-99555E0B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185240-C12E-772F-DC6E-3D3120EAB0C5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MapReduce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27ECF-4503-8FB2-3801-1C17C4F7D74A}"/>
              </a:ext>
            </a:extLst>
          </p:cNvPr>
          <p:cNvSpPr txBox="1"/>
          <p:nvPr/>
        </p:nvSpPr>
        <p:spPr>
          <a:xfrm>
            <a:off x="642256" y="1513114"/>
            <a:ext cx="1090748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The Three Phases: Map, Shuffle, Reduce</a:t>
            </a:r>
          </a:p>
          <a:p>
            <a:r>
              <a:rPr lang="en-US" sz="2400" b="1" dirty="0"/>
              <a:t>Map Phase</a:t>
            </a: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Input:</a:t>
            </a:r>
            <a:r>
              <a:rPr lang="en-US" sz="2400" dirty="0"/>
              <a:t> Data is read from HDFS as (Key, Value) pairs. Example: (</a:t>
            </a:r>
            <a:r>
              <a:rPr lang="en-US" sz="2400" dirty="0" err="1"/>
              <a:t>line_number</a:t>
            </a:r>
            <a:r>
              <a:rPr lang="en-US" sz="2400" dirty="0"/>
              <a:t>, "text of the line").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Logic:</a:t>
            </a:r>
            <a:r>
              <a:rPr lang="en-US" sz="2400" dirty="0"/>
              <a:t> A user-defined map() function is applied in parallel to </a:t>
            </a:r>
            <a:r>
              <a:rPr lang="en-US" sz="2400" i="1" dirty="0"/>
              <a:t>every</a:t>
            </a:r>
            <a:r>
              <a:rPr lang="en-US" sz="2400" dirty="0"/>
              <a:t> input pair.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Output:</a:t>
            </a:r>
            <a:r>
              <a:rPr lang="en-US" sz="2400" dirty="0"/>
              <a:t> Generates </a:t>
            </a:r>
            <a:r>
              <a:rPr lang="en-US" sz="2400" i="1" dirty="0"/>
              <a:t>zero or more</a:t>
            </a:r>
            <a:r>
              <a:rPr lang="en-US" sz="2400" dirty="0"/>
              <a:t> intermediate (Key, Value) pairs.</a:t>
            </a:r>
          </a:p>
          <a:p>
            <a:endParaRPr lang="en-US" sz="2400" b="1" dirty="0"/>
          </a:p>
          <a:p>
            <a:r>
              <a:rPr lang="en-US" sz="2400" b="1" dirty="0"/>
              <a:t>Shuffle &amp; Sort Phase (The "Magic Middle")</a:t>
            </a: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This is handled by the framework automatically!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It collects all intermediate (Key, Value) pairs from all Mappers.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It sorts them by key.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It groups all values associated with the </a:t>
            </a:r>
            <a:r>
              <a:rPr lang="en-US" sz="2400" i="1" dirty="0"/>
              <a:t>same key</a:t>
            </a:r>
            <a:r>
              <a:rPr lang="en-US" sz="2400" dirty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Output:</a:t>
            </a:r>
            <a:r>
              <a:rPr lang="en-US" sz="2400" dirty="0"/>
              <a:t> Creates (Key, [List of Values]) pairs.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8A917-2D81-EC48-CE5E-EA2A858E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15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6515B1-28BB-3BF1-805D-2E39C906B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365" y="672935"/>
            <a:ext cx="3375371" cy="168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704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811B-0414-0BAC-7309-99555E0B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185240-C12E-772F-DC6E-3D3120EAB0C5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MapReduce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27ECF-4503-8FB2-3801-1C17C4F7D74A}"/>
              </a:ext>
            </a:extLst>
          </p:cNvPr>
          <p:cNvSpPr txBox="1"/>
          <p:nvPr/>
        </p:nvSpPr>
        <p:spPr>
          <a:xfrm>
            <a:off x="642256" y="1513114"/>
            <a:ext cx="45680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Reduce Phase</a:t>
            </a: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Input:</a:t>
            </a:r>
            <a:r>
              <a:rPr lang="en-US" sz="2400" dirty="0"/>
              <a:t> The (Key, [List of Values]) pairs from the Shuffle phase.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Logic:</a:t>
            </a:r>
            <a:r>
              <a:rPr lang="en-US" sz="2400" dirty="0"/>
              <a:t> A user-defined reduce() function is applied to </a:t>
            </a:r>
            <a:r>
              <a:rPr lang="en-US" sz="2400" i="1" dirty="0"/>
              <a:t>each</a:t>
            </a:r>
            <a:r>
              <a:rPr lang="en-US" sz="2400" dirty="0"/>
              <a:t> group.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Output:</a:t>
            </a:r>
            <a:r>
              <a:rPr lang="en-US" sz="2400" dirty="0"/>
              <a:t> Generates the final (Key, Value) pairs, which are written back to HDFS.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8A917-2D81-EC48-CE5E-EA2A858E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16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6515B1-28BB-3BF1-805D-2E39C906B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995" y="1603329"/>
            <a:ext cx="6500000" cy="323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678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811B-0414-0BAC-7309-99555E0B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185240-C12E-772F-DC6E-3D3120EAB0C5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Classic Example: Word Count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8A917-2D81-EC48-CE5E-EA2A858E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17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6515B1-28BB-3BF1-805D-2E39C906B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364" y="999711"/>
            <a:ext cx="3375371" cy="1680358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1A60A4F-5C12-24F0-6A8C-73917EF5B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19" y="2471098"/>
            <a:ext cx="8011734" cy="3720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8799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811B-0414-0BAC-7309-99555E0B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185240-C12E-772F-DC6E-3D3120EAB0C5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MapReduce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27ECF-4503-8FB2-3801-1C17C4F7D74A}"/>
              </a:ext>
            </a:extLst>
          </p:cNvPr>
          <p:cNvSpPr txBox="1"/>
          <p:nvPr/>
        </p:nvSpPr>
        <p:spPr>
          <a:xfrm>
            <a:off x="642254" y="1595021"/>
            <a:ext cx="1057208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MapReduce</a:t>
            </a:r>
            <a:r>
              <a:rPr lang="en-US" dirty="0"/>
              <a:t> revolutionized large-scale batch processing, but it has significant </a:t>
            </a:r>
            <a:r>
              <a:rPr lang="en-US" dirty="0">
                <a:solidFill>
                  <a:srgbClr val="FF0000"/>
                </a:solidFill>
              </a:rPr>
              <a:t>drawbacks</a:t>
            </a:r>
            <a:r>
              <a:rPr lang="en-US" dirty="0"/>
              <a:t>. Understanding these limitations is key to understanding why new tools like </a:t>
            </a:r>
            <a:r>
              <a:rPr lang="en-US" b="1" dirty="0"/>
              <a:t>Apache Spark</a:t>
            </a:r>
            <a:r>
              <a:rPr lang="en-US" dirty="0"/>
              <a:t> and </a:t>
            </a:r>
            <a:r>
              <a:rPr lang="en-US" b="1" dirty="0" err="1"/>
              <a:t>Flink</a:t>
            </a:r>
            <a:r>
              <a:rPr lang="en-US" dirty="0"/>
              <a:t> were created.</a:t>
            </a:r>
          </a:p>
          <a:p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MapReduce</a:t>
            </a:r>
            <a:r>
              <a:rPr lang="en-US" dirty="0">
                <a:solidFill>
                  <a:srgbClr val="FF0000"/>
                </a:solidFill>
              </a:rPr>
              <a:t> is fundamentally a </a:t>
            </a:r>
            <a:r>
              <a:rPr lang="en-US" b="1" dirty="0">
                <a:solidFill>
                  <a:srgbClr val="FF0000"/>
                </a:solidFill>
              </a:rPr>
              <a:t>batch processing</a:t>
            </a:r>
            <a:r>
              <a:rPr lang="en-US" dirty="0">
                <a:solidFill>
                  <a:srgbClr val="FF0000"/>
                </a:solidFill>
              </a:rPr>
              <a:t> system. It is </a:t>
            </a:r>
            <a:r>
              <a:rPr lang="en-US" i="1" dirty="0">
                <a:solidFill>
                  <a:srgbClr val="FF0000"/>
                </a:solidFill>
              </a:rPr>
              <a:t>not</a:t>
            </a:r>
            <a:r>
              <a:rPr lang="en-US" dirty="0">
                <a:solidFill>
                  <a:srgbClr val="FF0000"/>
                </a:solidFill>
              </a:rPr>
              <a:t> for real-time or low-latency queries.</a:t>
            </a:r>
          </a:p>
          <a:p>
            <a:endParaRPr lang="en-US" b="1" dirty="0"/>
          </a:p>
          <a:p>
            <a:r>
              <a:rPr lang="en-US" b="1" dirty="0"/>
              <a:t>Why? Disk I/O is Everywhere: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It reads its initial data from HDFS (disk).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Mappers run, then write their intermediate output to the </a:t>
            </a:r>
            <a:r>
              <a:rPr lang="en-US" i="1" dirty="0"/>
              <a:t>local disk</a:t>
            </a:r>
            <a:r>
              <a:rPr lang="en-US" dirty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Reducers read this intermediate data from the Mappers' disks (network + disk).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Reducers write their final output back to HDFS (disk).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Impact:</a:t>
            </a:r>
            <a:r>
              <a:rPr lang="en-US" dirty="0"/>
              <a:t> This constant read/write to disk makes it very slow. It's fine for an overnight report, but terrible for an interactive dashboard.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8A917-2D81-EC48-CE5E-EA2A858E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8440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811B-0414-0BAC-7309-99555E0B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185240-C12E-772F-DC6E-3D3120EAB0C5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MapReduce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27ECF-4503-8FB2-3801-1C17C4F7D74A}"/>
              </a:ext>
            </a:extLst>
          </p:cNvPr>
          <p:cNvSpPr txBox="1"/>
          <p:nvPr/>
        </p:nvSpPr>
        <p:spPr>
          <a:xfrm>
            <a:off x="642254" y="1595021"/>
            <a:ext cx="1057208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Map -&gt; Reduce model is very restrictive.</a:t>
            </a:r>
          </a:p>
          <a:p>
            <a:endParaRPr lang="en-US" b="1" dirty="0"/>
          </a:p>
          <a:p>
            <a:r>
              <a:rPr lang="en-US" b="1" dirty="0"/>
              <a:t>What about complex jobs?</a:t>
            </a:r>
            <a:endParaRPr lang="en-US" dirty="0"/>
          </a:p>
          <a:p>
            <a:r>
              <a:rPr lang="en-US" dirty="0"/>
              <a:t>Many real-world algorithms (like in machine learning or graph processing) require multiple steps.</a:t>
            </a:r>
          </a:p>
          <a:p>
            <a:endParaRPr lang="en-US" b="1" dirty="0"/>
          </a:p>
          <a:p>
            <a:r>
              <a:rPr lang="en-US" b="1" dirty="0"/>
              <a:t>Solution in </a:t>
            </a:r>
            <a:r>
              <a:rPr lang="en-US" b="1" dirty="0" err="1"/>
              <a:t>MapReduce</a:t>
            </a:r>
            <a:r>
              <a:rPr lang="en-US" b="1" dirty="0"/>
              <a:t>:</a:t>
            </a:r>
            <a:r>
              <a:rPr lang="en-US" dirty="0"/>
              <a:t> You must </a:t>
            </a:r>
            <a:r>
              <a:rPr lang="en-US" b="1" dirty="0"/>
              <a:t>chain</a:t>
            </a:r>
            <a:r>
              <a:rPr lang="en-US" dirty="0"/>
              <a:t> multiple </a:t>
            </a:r>
            <a:r>
              <a:rPr lang="en-US" dirty="0" err="1"/>
              <a:t>MapReduce</a:t>
            </a:r>
            <a:r>
              <a:rPr lang="en-US" dirty="0"/>
              <a:t> jobs together.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Impact:</a:t>
            </a:r>
            <a:r>
              <a:rPr lang="en-US" dirty="0"/>
              <a:t> This is </a:t>
            </a:r>
            <a:r>
              <a:rPr lang="en-US" i="1" dirty="0"/>
              <a:t>extremely</a:t>
            </a:r>
            <a:r>
              <a:rPr lang="en-US" dirty="0"/>
              <a:t> inefficient. Each step involves a full read/write cycle to HDFS, introducing massive latency.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8A917-2D81-EC48-CE5E-EA2A858E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0625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811B-0414-0BAC-7309-99555E0B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185240-C12E-772F-DC6E-3D3120EAB0C5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MapReduce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27ECF-4503-8FB2-3801-1C17C4F7D74A}"/>
              </a:ext>
            </a:extLst>
          </p:cNvPr>
          <p:cNvSpPr txBox="1"/>
          <p:nvPr/>
        </p:nvSpPr>
        <p:spPr>
          <a:xfrm>
            <a:off x="642254" y="1595021"/>
            <a:ext cx="105720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Many modern algorithms are </a:t>
            </a:r>
            <a:r>
              <a:rPr lang="en-US" b="1" dirty="0">
                <a:solidFill>
                  <a:srgbClr val="FF0000"/>
                </a:solidFill>
              </a:rPr>
              <a:t>iterative</a:t>
            </a:r>
            <a:r>
              <a:rPr lang="en-US" dirty="0">
                <a:solidFill>
                  <a:srgbClr val="FF0000"/>
                </a:solidFill>
              </a:rPr>
              <a:t> (e.g., K-Means clustering in machine learning).</a:t>
            </a:r>
          </a:p>
          <a:p>
            <a:r>
              <a:rPr lang="en-US" dirty="0"/>
              <a:t>This means the logic needs to "loop" over the data, refining the result with each pass.</a:t>
            </a:r>
          </a:p>
          <a:p>
            <a:endParaRPr lang="en-US" b="1" dirty="0"/>
          </a:p>
          <a:p>
            <a:r>
              <a:rPr lang="en-US" b="1" dirty="0" err="1"/>
              <a:t>MapReduce's</a:t>
            </a:r>
            <a:r>
              <a:rPr lang="en-US" b="1" dirty="0"/>
              <a:t> Handling:</a:t>
            </a:r>
            <a:r>
              <a:rPr lang="en-US" dirty="0"/>
              <a:t> each "loop" or "iteration" must be implemented as a </a:t>
            </a:r>
            <a:r>
              <a:rPr lang="en-US" i="1" dirty="0"/>
              <a:t>brand new </a:t>
            </a:r>
            <a:r>
              <a:rPr lang="en-US" i="1" dirty="0" err="1"/>
              <a:t>MapReduce</a:t>
            </a:r>
            <a:r>
              <a:rPr lang="en-US" i="1" dirty="0"/>
              <a:t> job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Impact:</a:t>
            </a:r>
            <a:r>
              <a:rPr lang="en-US" dirty="0"/>
              <a:t> The data is re-loaded from HDFS on every single iteration. Caching data in memory between iterations is not part of the model. This makes iterative analytics almost unusable in pure </a:t>
            </a:r>
            <a:r>
              <a:rPr lang="en-US" dirty="0" err="1"/>
              <a:t>MapReduce</a:t>
            </a:r>
            <a:r>
              <a:rPr lang="en-US" dirty="0"/>
              <a:t>.</a:t>
            </a:r>
          </a:p>
          <a:p>
            <a:endParaRPr lang="en-US" i="1" dirty="0"/>
          </a:p>
          <a:p>
            <a:r>
              <a:rPr lang="en-US" i="1" dirty="0"/>
              <a:t>This is the main problem </a:t>
            </a:r>
            <a:r>
              <a:rPr lang="en-US" b="1" i="1" dirty="0"/>
              <a:t>Apache Spark</a:t>
            </a:r>
            <a:r>
              <a:rPr lang="en-US" i="1" dirty="0"/>
              <a:t> was built to solve with its in-memory </a:t>
            </a:r>
            <a:r>
              <a:rPr lang="en-US" i="1" dirty="0" err="1"/>
              <a:t>DataFrames</a:t>
            </a:r>
            <a:r>
              <a:rPr lang="en-US" i="1" dirty="0"/>
              <a:t>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8A917-2D81-EC48-CE5E-EA2A858E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0885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811B-0414-0BAC-7309-99555E0B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185240-C12E-772F-DC6E-3D3120EAB0C5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MapReduce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27ECF-4503-8FB2-3801-1C17C4F7D74A}"/>
              </a:ext>
            </a:extLst>
          </p:cNvPr>
          <p:cNvSpPr txBox="1"/>
          <p:nvPr/>
        </p:nvSpPr>
        <p:spPr>
          <a:xfrm>
            <a:off x="642254" y="1595021"/>
            <a:ext cx="1057208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Writing a "simple" </a:t>
            </a:r>
            <a:r>
              <a:rPr lang="en-US" dirty="0" err="1">
                <a:solidFill>
                  <a:srgbClr val="FF0000"/>
                </a:solidFill>
              </a:rPr>
              <a:t>MapReduce</a:t>
            </a:r>
            <a:r>
              <a:rPr lang="en-US" dirty="0">
                <a:solidFill>
                  <a:srgbClr val="FF0000"/>
                </a:solidFill>
              </a:rPr>
              <a:t> job requires a </a:t>
            </a:r>
            <a:r>
              <a:rPr lang="en-US" i="1" dirty="0">
                <a:solidFill>
                  <a:srgbClr val="FF0000"/>
                </a:solidFill>
              </a:rPr>
              <a:t>lot</a:t>
            </a:r>
            <a:r>
              <a:rPr lang="en-US" dirty="0">
                <a:solidFill>
                  <a:srgbClr val="FF0000"/>
                </a:solidFill>
              </a:rPr>
              <a:t> of boilerplate code.</a:t>
            </a:r>
          </a:p>
          <a:p>
            <a:endParaRPr lang="en-US" b="1" dirty="0"/>
          </a:p>
          <a:p>
            <a:r>
              <a:rPr lang="en-US" b="1" dirty="0"/>
              <a:t>What you must write: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Mapper class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Reducer class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Driver class (to configure and launch the job)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Handling data types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Impact: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Low developer productivity. It takes a long time to write and debug simple logic.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This led to the creation of higher-level abstraction tools like </a:t>
            </a:r>
            <a:r>
              <a:rPr lang="en-US" b="1" dirty="0"/>
              <a:t>Hive</a:t>
            </a:r>
            <a:r>
              <a:rPr lang="en-US" dirty="0"/>
              <a:t> (uses SQL) and </a:t>
            </a:r>
            <a:r>
              <a:rPr lang="en-US" b="1" dirty="0"/>
              <a:t>Pig</a:t>
            </a:r>
            <a:r>
              <a:rPr lang="en-US" dirty="0"/>
              <a:t> (uses a simple script) that </a:t>
            </a:r>
            <a:r>
              <a:rPr lang="en-US" i="1" dirty="0"/>
              <a:t>compile down</a:t>
            </a:r>
            <a:r>
              <a:rPr lang="en-US" dirty="0"/>
              <a:t> to </a:t>
            </a:r>
            <a:r>
              <a:rPr lang="en-US" dirty="0" err="1"/>
              <a:t>MapReduce</a:t>
            </a:r>
            <a:r>
              <a:rPr lang="en-US" dirty="0"/>
              <a:t> jobs.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8A917-2D81-EC48-CE5E-EA2A858E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1853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811B-0414-0BAC-7309-99555E0B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185240-C12E-772F-DC6E-3D3120EAB0C5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MapReduce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27ECF-4503-8FB2-3801-1C17C4F7D74A}"/>
              </a:ext>
            </a:extLst>
          </p:cNvPr>
          <p:cNvSpPr txBox="1"/>
          <p:nvPr/>
        </p:nvSpPr>
        <p:spPr>
          <a:xfrm>
            <a:off x="642254" y="1595021"/>
            <a:ext cx="1057208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Why We Moved Beyond </a:t>
            </a:r>
            <a:r>
              <a:rPr lang="en-US" dirty="0" err="1"/>
              <a:t>MapReduce</a:t>
            </a:r>
            <a:endParaRPr lang="en-US" dirty="0"/>
          </a:p>
          <a:p>
            <a:endParaRPr lang="en-US" b="1" dirty="0"/>
          </a:p>
          <a:p>
            <a:r>
              <a:rPr lang="en-US" b="1" dirty="0" err="1"/>
              <a:t>MapReduce</a:t>
            </a:r>
            <a:r>
              <a:rPr lang="en-US" b="1" dirty="0"/>
              <a:t> was great for: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Large-scale, one-pass </a:t>
            </a:r>
            <a:r>
              <a:rPr lang="en-US" b="1"/>
              <a:t>batch processing</a:t>
            </a:r>
            <a:r>
              <a:rPr lang="en-US"/>
              <a:t>.</a:t>
            </a:r>
            <a:endParaRPr lang="en-US" dirty="0"/>
          </a:p>
          <a:p>
            <a:endParaRPr lang="en-US" b="1" dirty="0"/>
          </a:p>
          <a:p>
            <a:r>
              <a:rPr lang="en-US" b="1" dirty="0" err="1"/>
              <a:t>MapReduce</a:t>
            </a:r>
            <a:r>
              <a:rPr lang="en-US" b="1" dirty="0"/>
              <a:t> was bad for: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Real-time processing (High Latency)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Interactive queries (High Latency)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Iterative algorithms (ML, Graphs)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Complex multi-step logic (Rigid M-&gt;R model)</a:t>
            </a:r>
          </a:p>
          <a:p>
            <a:endParaRPr lang="en-US" b="1" dirty="0"/>
          </a:p>
          <a:p>
            <a:r>
              <a:rPr lang="en-US" b="1" dirty="0"/>
              <a:t>The Next Step:</a:t>
            </a:r>
            <a:r>
              <a:rPr lang="en-US" dirty="0"/>
              <a:t> These limitations led directly to the development of new frameworks: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Apache Spark:</a:t>
            </a:r>
            <a:r>
              <a:rPr lang="en-US" dirty="0"/>
              <a:t> For fast, in-memory, interactive, and iterative processing.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Apache </a:t>
            </a:r>
            <a:r>
              <a:rPr lang="en-US" b="1" dirty="0" err="1"/>
              <a:t>Flink</a:t>
            </a:r>
            <a:r>
              <a:rPr lang="en-US" b="1" dirty="0"/>
              <a:t> / Kafka Streams:</a:t>
            </a:r>
            <a:r>
              <a:rPr lang="en-US" dirty="0"/>
              <a:t> For true real-time stream processing.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YARN made it possible for all these tools to co-exist on the same </a:t>
            </a:r>
            <a:r>
              <a:rPr lang="en-US" dirty="0" err="1"/>
              <a:t>Hadoop</a:t>
            </a:r>
            <a:r>
              <a:rPr lang="en-US" dirty="0"/>
              <a:t> cluster.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8A917-2D81-EC48-CE5E-EA2A858E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7707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BB565-A2CA-3E72-E780-051AF045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A38A83-4E84-CABB-3177-D76B6C754522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1 vs Hadoop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245AD-29DF-E18B-47AE-31F645CCBBBA}"/>
              </a:ext>
            </a:extLst>
          </p:cNvPr>
          <p:cNvSpPr txBox="1"/>
          <p:nvPr/>
        </p:nvSpPr>
        <p:spPr>
          <a:xfrm>
            <a:off x="642254" y="1595021"/>
            <a:ext cx="420188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In </a:t>
            </a:r>
            <a:r>
              <a:rPr lang="en-US" sz="2000" b="1" dirty="0"/>
              <a:t>Hadoop 1</a:t>
            </a:r>
            <a:r>
              <a:rPr lang="en-US" sz="2000" dirty="0"/>
              <a:t>, HDFS is used for storage, and on top of it, </a:t>
            </a:r>
            <a:r>
              <a:rPr lang="en-US" sz="2000" b="1" dirty="0"/>
              <a:t>MapReduce</a:t>
            </a:r>
            <a:r>
              <a:rPr lang="en-US" sz="2000" dirty="0"/>
              <a:t> handles both resource management and data processing. Because MapReduce is responsible for these multiple tasks, it can create performance bottlenecks.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In </a:t>
            </a:r>
            <a:r>
              <a:rPr lang="en-US" sz="2000" b="1" dirty="0"/>
              <a:t>Hadoop 2</a:t>
            </a:r>
            <a:r>
              <a:rPr lang="en-US" sz="2000" dirty="0"/>
              <a:t>, HDFS is still used for storage, but resource management is handled by </a:t>
            </a:r>
            <a:r>
              <a:rPr lang="en-US" sz="2000" b="1" dirty="0"/>
              <a:t>YARN</a:t>
            </a:r>
            <a:r>
              <a:rPr lang="en-US" sz="2000" dirty="0"/>
              <a:t> instead of MapReduce. YARN manages and allocates resources efficiently, while MapReduce (and other processing frameworks) focus solely on data processing, resulting in improved performance and flexibility.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30A238-A466-4BFB-2D56-0D5E6B15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23</a:t>
            </a:fld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69922D3-2A25-332D-19EB-8710DD7C0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690926"/>
            <a:ext cx="6400800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893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E278D-EC5F-879C-9E36-74D3BCBE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C72A45-3FEE-D23B-AE20-9968EC73AD6C}"/>
              </a:ext>
            </a:extLst>
          </p:cNvPr>
          <p:cNvSpPr txBox="1"/>
          <p:nvPr/>
        </p:nvSpPr>
        <p:spPr>
          <a:xfrm>
            <a:off x="1270907" y="-707886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1 vs Hadoop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86F44-B16B-7A5C-5109-F613E9D5B118}"/>
              </a:ext>
            </a:extLst>
          </p:cNvPr>
          <p:cNvSpPr txBox="1"/>
          <p:nvPr/>
        </p:nvSpPr>
        <p:spPr>
          <a:xfrm>
            <a:off x="642254" y="1595021"/>
            <a:ext cx="420188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/>
              <a:t>Hadoop 1</a:t>
            </a:r>
            <a:r>
              <a:rPr lang="en-US" sz="2000"/>
              <a:t> follows a Master-Slave architecture with </a:t>
            </a:r>
            <a:r>
              <a:rPr lang="en-US" sz="2000">
                <a:solidFill>
                  <a:srgbClr val="FF0000"/>
                </a:solidFill>
              </a:rPr>
              <a:t>a single master node</a:t>
            </a:r>
            <a:r>
              <a:rPr lang="en-US" sz="2000"/>
              <a:t>. If the master node fails, the entire cluster becomes unusable, and restoring it is time-consuming.</a:t>
            </a:r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r>
              <a:rPr lang="en-US" sz="2000" b="1"/>
              <a:t>Hadoop 2</a:t>
            </a:r>
            <a:r>
              <a:rPr lang="en-US" sz="2000"/>
              <a:t> also uses a Master-Slave architecture but supports </a:t>
            </a:r>
            <a:r>
              <a:rPr lang="en-US" sz="2000">
                <a:solidFill>
                  <a:srgbClr val="FF0000"/>
                </a:solidFill>
              </a:rPr>
              <a:t>multiple master nodes</a:t>
            </a:r>
            <a:r>
              <a:rPr lang="en-US" sz="2000"/>
              <a:t> (active and standby). If one master fails, a standby master automatically takes over, eliminating the single point of failure and improving reliability.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6A3F4C-1CAD-43B1-1794-37998311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24</a:t>
            </a:fld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475FBE-0918-348D-7505-694E2A84C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713076" y="1690926"/>
            <a:ext cx="5795047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ABC8269-FB2A-BF06-3BD2-562187C547E8}"/>
                  </a:ext>
                </a:extLst>
              </p14:cNvPr>
              <p14:cNvContentPartPr/>
              <p14:nvPr/>
            </p14:nvContentPartPr>
            <p14:xfrm>
              <a:off x="7486937" y="424766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ABC8269-FB2A-BF06-3BD2-562187C547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77937" y="41576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E01D18E-3D6D-9AE7-4357-7D48E96ABF67}"/>
                  </a:ext>
                </a:extLst>
              </p14:cNvPr>
              <p14:cNvContentPartPr/>
              <p14:nvPr/>
            </p14:nvContentPartPr>
            <p14:xfrm>
              <a:off x="1906937" y="380846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E01D18E-3D6D-9AE7-4357-7D48E96ABF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00817" y="37472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F5DDBC8-DEF1-BC65-D034-D7B7218255C0}"/>
                  </a:ext>
                </a:extLst>
              </p14:cNvPr>
              <p14:cNvContentPartPr/>
              <p14:nvPr/>
            </p14:nvContentPartPr>
            <p14:xfrm>
              <a:off x="7673695" y="421170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F5DDBC8-DEF1-BC65-D034-D7B7218255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67575" y="4150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15BFFA8-5DA9-3790-0D7F-2C9559B0C809}"/>
                  </a:ext>
                </a:extLst>
              </p14:cNvPr>
              <p14:cNvContentPartPr/>
              <p14:nvPr/>
            </p14:nvContentPartPr>
            <p14:xfrm>
              <a:off x="7707175" y="-364606"/>
              <a:ext cx="29880" cy="1436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15BFFA8-5DA9-3790-0D7F-2C9559B0C80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01055" y="-370726"/>
                <a:ext cx="42120" cy="15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4550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CC641-0BD1-F165-2D52-A0122474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1DA795-CC2A-E4FA-85CA-67B779498FD7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YARN (Yet Another Resource Negotiator)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B34EE-F8FD-2D0B-7A94-744FE85AEE02}"/>
              </a:ext>
            </a:extLst>
          </p:cNvPr>
          <p:cNvSpPr txBox="1"/>
          <p:nvPr/>
        </p:nvSpPr>
        <p:spPr>
          <a:xfrm>
            <a:off x="642256" y="1513114"/>
            <a:ext cx="775063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YARN: The "Operating System" of Hadoop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YARN is the resource management and job scheduling component of Hadoop (introduced in Hadoop 2.0).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YARN separates the </a:t>
            </a:r>
            <a:r>
              <a:rPr lang="en-US" sz="2400" i="1" dirty="0"/>
              <a:t>resource management</a:t>
            </a:r>
            <a:r>
              <a:rPr lang="en-US" sz="2400" dirty="0"/>
              <a:t> (who gets what CPU/RAM) from the </a:t>
            </a:r>
            <a:r>
              <a:rPr lang="en-US" sz="2400" i="1" dirty="0"/>
              <a:t>data processing</a:t>
            </a:r>
            <a:r>
              <a:rPr lang="en-US" sz="2400" dirty="0"/>
              <a:t> (what code to run).</a:t>
            </a:r>
          </a:p>
          <a:p>
            <a:endParaRPr lang="en-US" sz="2400" b="1" dirty="0"/>
          </a:p>
          <a:p>
            <a:r>
              <a:rPr lang="en-US" sz="2400" b="1" dirty="0"/>
              <a:t>Why?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Hadoop 1.0, the "</a:t>
            </a:r>
            <a:r>
              <a:rPr lang="en-US" sz="2400" dirty="0" err="1"/>
              <a:t>JobTracker</a:t>
            </a:r>
            <a:r>
              <a:rPr lang="en-US" sz="2400" dirty="0"/>
              <a:t>" did </a:t>
            </a:r>
            <a:r>
              <a:rPr lang="en-US" sz="2400" i="1" dirty="0"/>
              <a:t>both</a:t>
            </a:r>
            <a:r>
              <a:rPr lang="en-US" sz="2400" dirty="0"/>
              <a:t> resource management and MapReduce processing.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48A593-4F41-2F39-EDC5-1D284958E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25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FD1B64-D6BD-962B-6EF0-D5A032686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920" y="1545799"/>
            <a:ext cx="3476875" cy="36140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7005A5-E500-EF77-7586-40BB71A9D2B7}"/>
              </a:ext>
            </a:extLst>
          </p:cNvPr>
          <p:cNvSpPr txBox="1"/>
          <p:nvPr/>
        </p:nvSpPr>
        <p:spPr>
          <a:xfrm>
            <a:off x="642255" y="5298766"/>
            <a:ext cx="111017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This was a bottleneck:</a:t>
            </a:r>
            <a:r>
              <a:rPr lang="en-US" sz="2400" dirty="0"/>
              <a:t> It couldn't scale well and </a:t>
            </a:r>
            <a:r>
              <a:rPr lang="en-US" sz="2400" i="1" dirty="0"/>
              <a:t>only</a:t>
            </a:r>
            <a:r>
              <a:rPr lang="en-US" sz="2400" dirty="0"/>
              <a:t> supported MapReduce.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YARN allows Hadoop to run many different types of applications (e.g., MapReduce, Spark, Flink, Tez) on the same cluster.</a:t>
            </a:r>
          </a:p>
        </p:txBody>
      </p:sp>
    </p:spTree>
    <p:extLst>
      <p:ext uri="{BB962C8B-B14F-4D97-AF65-F5344CB8AC3E}">
        <p14:creationId xmlns:p14="http://schemas.microsoft.com/office/powerpoint/2010/main" val="33890669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39E52-3B87-07E3-FDEB-38A9FC065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F799CD-D9A4-70C3-9DD1-824EDA3435E5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YARN Core Components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A2F8D7-46AB-19EC-4AC3-11BCBDF854FB}"/>
              </a:ext>
            </a:extLst>
          </p:cNvPr>
          <p:cNvSpPr txBox="1"/>
          <p:nvPr/>
        </p:nvSpPr>
        <p:spPr>
          <a:xfrm>
            <a:off x="642255" y="1513114"/>
            <a:ext cx="601959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ResourceManager</a:t>
            </a:r>
            <a:r>
              <a:rPr lang="en-US" sz="2400" b="1" dirty="0"/>
              <a:t> (The Global Master):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single, ultimate authority for all cluster resources.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Runs on a master node.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Has two main parts: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Scheduler:</a:t>
            </a:r>
            <a:r>
              <a:rPr lang="en-US" sz="2400" dirty="0"/>
              <a:t> The "allocator." Decides </a:t>
            </a:r>
            <a:r>
              <a:rPr lang="en-US" sz="2400" i="1" dirty="0"/>
              <a:t>which application</a:t>
            </a:r>
            <a:r>
              <a:rPr lang="en-US" sz="2400" dirty="0"/>
              <a:t> gets </a:t>
            </a:r>
            <a:r>
              <a:rPr lang="en-US" sz="2400" i="1" dirty="0"/>
              <a:t>which resources</a:t>
            </a:r>
            <a:r>
              <a:rPr lang="en-US" sz="2400" dirty="0"/>
              <a:t> based on policies (like FIFO, Capacity, or Fair). It is a pure scheduler; it doesn't monitor tasks.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ApplicationManager</a:t>
            </a:r>
            <a:r>
              <a:rPr lang="en-US" sz="2400" b="1" dirty="0"/>
              <a:t>:</a:t>
            </a:r>
            <a:r>
              <a:rPr lang="en-US" sz="2400" dirty="0"/>
              <a:t> Manages the lifecycle of all applications, including starting their </a:t>
            </a:r>
            <a:r>
              <a:rPr lang="en-US" sz="2400" dirty="0" err="1"/>
              <a:t>ApplicationMaster</a:t>
            </a:r>
            <a:r>
              <a:rPr lang="en-US" sz="2400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D719C1-E352-A4C2-8FF7-D74AF5FB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26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17F177-34BD-782F-5D63-4562CF3D8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849" y="2373086"/>
            <a:ext cx="5441142" cy="29826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5F31C7-2F41-A300-E647-F3B518121588}"/>
              </a:ext>
            </a:extLst>
          </p:cNvPr>
          <p:cNvSpPr txBox="1"/>
          <p:nvPr/>
        </p:nvSpPr>
        <p:spPr>
          <a:xfrm>
            <a:off x="6661847" y="6191317"/>
            <a:ext cx="5441143" cy="43088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1050" dirty="0"/>
              <a:t>https://www.geeksforgeeks.org/data-engineering/explain-the-role-of-yarn-yet-another-resource-negotiator-in-hadoop/</a:t>
            </a:r>
          </a:p>
        </p:txBody>
      </p:sp>
    </p:spTree>
    <p:extLst>
      <p:ext uri="{BB962C8B-B14F-4D97-AF65-F5344CB8AC3E}">
        <p14:creationId xmlns:p14="http://schemas.microsoft.com/office/powerpoint/2010/main" val="2749350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76B03-2A68-88FB-BB68-988FFDCE1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4716CA-703D-E931-5472-E39414D40EBB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YARN Core Components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691794-20C9-8376-1628-856E000CE7A7}"/>
              </a:ext>
            </a:extLst>
          </p:cNvPr>
          <p:cNvSpPr txBox="1"/>
          <p:nvPr/>
        </p:nvSpPr>
        <p:spPr>
          <a:xfrm>
            <a:off x="642255" y="1513114"/>
            <a:ext cx="601959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NodeManager</a:t>
            </a:r>
            <a:r>
              <a:rPr lang="en-US" sz="2400" b="1" dirty="0"/>
              <a:t> (The Slave/Worker, 1 per node):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Runs on every worker node (alongside the HDFS </a:t>
            </a:r>
            <a:r>
              <a:rPr lang="en-US" sz="2400" dirty="0" err="1"/>
              <a:t>DataNode</a:t>
            </a:r>
            <a:r>
              <a:rPr lang="en-US" sz="24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"on-site manager" for that specific machine.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Responsibilities: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Reports its node's health and available resources (CPU, RAM) to the </a:t>
            </a:r>
            <a:r>
              <a:rPr lang="en-US" sz="2400" dirty="0" err="1"/>
              <a:t>ResourceManager</a:t>
            </a:r>
            <a:r>
              <a:rPr lang="en-US" sz="24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Manages </a:t>
            </a:r>
            <a:r>
              <a:rPr lang="en-US" sz="2400" b="1" dirty="0"/>
              <a:t>Containers</a:t>
            </a:r>
            <a:r>
              <a:rPr lang="en-US" sz="2400" dirty="0"/>
              <a:t> on its node (launching, monitoring, and killing them).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7479DE-5D69-6968-A3BB-8663A6C4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27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FA562E-235C-517A-12DF-8BA47C4CD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849" y="2373086"/>
            <a:ext cx="5441142" cy="298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622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B041D-589A-55E3-500A-F5EC66EB5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983F2A-8ED1-EB08-2096-FC5B9CA70229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YARN Application Components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97044-DC82-7400-6EBE-C54240AF7821}"/>
              </a:ext>
            </a:extLst>
          </p:cNvPr>
          <p:cNvSpPr txBox="1"/>
          <p:nvPr/>
        </p:nvSpPr>
        <p:spPr>
          <a:xfrm>
            <a:off x="642255" y="1513114"/>
            <a:ext cx="601959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ApplicationMaster</a:t>
            </a:r>
            <a:r>
              <a:rPr lang="en-US" sz="2400" b="1" dirty="0"/>
              <a:t> (The "Per-Job" Master):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is </a:t>
            </a:r>
            <a:r>
              <a:rPr lang="en-US" sz="2400" b="1" dirty="0"/>
              <a:t>one </a:t>
            </a:r>
            <a:r>
              <a:rPr lang="en-US" sz="2400" b="1" dirty="0" err="1"/>
              <a:t>ApplicationMaster</a:t>
            </a:r>
            <a:r>
              <a:rPr lang="en-US" sz="2400" b="1" dirty="0"/>
              <a:t> (AM)</a:t>
            </a:r>
            <a:r>
              <a:rPr lang="en-US" sz="2400" dirty="0"/>
              <a:t> created for </a:t>
            </a:r>
            <a:r>
              <a:rPr lang="en-US" sz="2400" i="1" dirty="0"/>
              <a:t>every single job</a:t>
            </a:r>
            <a:r>
              <a:rPr lang="en-US" sz="2400" dirty="0"/>
              <a:t> submitted to the cluster.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Responsibilities: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Negotiates</a:t>
            </a:r>
            <a:r>
              <a:rPr lang="en-US" sz="2400" dirty="0"/>
              <a:t> with the </a:t>
            </a:r>
            <a:r>
              <a:rPr lang="en-US" sz="2400" dirty="0" err="1"/>
              <a:t>ResourceManager's</a:t>
            </a:r>
            <a:r>
              <a:rPr lang="en-US" sz="2400" dirty="0"/>
              <a:t> Scheduler for resources (i.e., "I need 20 containers with 2GB RAM each").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Receives the containers from the RM.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Monitors</a:t>
            </a:r>
            <a:r>
              <a:rPr lang="en-US" sz="2400" dirty="0"/>
              <a:t> its </a:t>
            </a:r>
            <a:r>
              <a:rPr lang="en-US" sz="2400" i="1" dirty="0"/>
              <a:t>own</a:t>
            </a:r>
            <a:r>
              <a:rPr lang="en-US" sz="2400" dirty="0"/>
              <a:t> tasks, tracks their progress, and handles failures.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4BA07C-13C4-076F-D4CB-1E32C9A2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28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9AE47F-BA7C-36B5-D6B1-01DFCC15A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849" y="2373086"/>
            <a:ext cx="5441142" cy="298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7548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383A-3BFD-008E-6830-D420D54D7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0E7ECC-B545-C0F2-CDF1-F5C954538248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YARN Application Components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CF323-2D80-B958-B283-57CE22E13983}"/>
              </a:ext>
            </a:extLst>
          </p:cNvPr>
          <p:cNvSpPr txBox="1"/>
          <p:nvPr/>
        </p:nvSpPr>
        <p:spPr>
          <a:xfrm>
            <a:off x="642255" y="1513114"/>
            <a:ext cx="601959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Container (The "Work Unit"):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bundle of resources</a:t>
            </a:r>
            <a:r>
              <a:rPr lang="en-US" sz="2400" dirty="0"/>
              <a:t> (CPU, RAM) on a specific </a:t>
            </a:r>
            <a:r>
              <a:rPr lang="en-US" sz="2400" dirty="0" err="1"/>
              <a:t>NodeManager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is where the actual application code (like a Map task or a Reduce task) runs.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container is just a </a:t>
            </a:r>
            <a:r>
              <a:rPr lang="en-US" sz="2400" i="1" dirty="0"/>
              <a:t>reservation</a:t>
            </a:r>
            <a:r>
              <a:rPr lang="en-US" sz="2400" dirty="0"/>
              <a:t>; the </a:t>
            </a:r>
            <a:r>
              <a:rPr lang="en-US" sz="2400" dirty="0" err="1"/>
              <a:t>ApplicationMaster</a:t>
            </a:r>
            <a:r>
              <a:rPr lang="en-US" sz="2400" dirty="0"/>
              <a:t> decides what code to run inside it.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98EA13-3580-E303-39E4-18749E1E0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29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E4A11E-C013-7D86-41B5-92D20D778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849" y="2373086"/>
            <a:ext cx="5441142" cy="298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174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A75F4-EA9A-76FC-1C6B-CA74091EA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1D3994-48BD-55F1-EB60-A85122FEB359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YARN Workflow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AEBC0-6093-6373-744B-DF2A1B811412}"/>
              </a:ext>
            </a:extLst>
          </p:cNvPr>
          <p:cNvSpPr txBox="1"/>
          <p:nvPr/>
        </p:nvSpPr>
        <p:spPr>
          <a:xfrm>
            <a:off x="642255" y="1513114"/>
            <a:ext cx="601959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Client submits job to </a:t>
            </a:r>
            <a:r>
              <a:rPr lang="en-US" sz="2400" dirty="0" err="1"/>
              <a:t>ResourceManager</a:t>
            </a:r>
            <a:r>
              <a:rPr lang="en-US" sz="24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RM launches </a:t>
            </a:r>
            <a:r>
              <a:rPr lang="en-US" sz="2400" dirty="0" err="1"/>
              <a:t>ApplicationMaster</a:t>
            </a:r>
            <a:r>
              <a:rPr lang="en-US" sz="24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AM requests containers (resources) from RM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RM allocates containers on </a:t>
            </a:r>
            <a:r>
              <a:rPr lang="en-US" sz="2400" dirty="0" err="1"/>
              <a:t>NodeManagers</a:t>
            </a:r>
            <a:r>
              <a:rPr lang="en-US" sz="24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AM launches tasks inside those containers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Tasks execute → send progress to AM → AM updates RM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0628F9-4B46-F420-FB1C-FCFD7C2E4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30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355DA3-01C4-6DAA-807D-BFA2EA7CD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849" y="2373086"/>
            <a:ext cx="5441142" cy="298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365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86BE9-EE56-B43C-DAD5-FE8AB4C72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B6A5C1-88C7-D7F2-D6E3-8A2CAA373A5F}"/>
              </a:ext>
            </a:extLst>
          </p:cNvPr>
          <p:cNvSpPr txBox="1"/>
          <p:nvPr/>
        </p:nvSpPr>
        <p:spPr>
          <a:xfrm>
            <a:off x="1270906" y="291825"/>
            <a:ext cx="9650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YARN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BFF47-A433-F365-211A-A2B34AEAA7F8}"/>
              </a:ext>
            </a:extLst>
          </p:cNvPr>
          <p:cNvSpPr txBox="1"/>
          <p:nvPr/>
        </p:nvSpPr>
        <p:spPr>
          <a:xfrm>
            <a:off x="642255" y="1513114"/>
            <a:ext cx="10526488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Multi-tenancy: Supports multiple frameworks (MapReduce, Spark, Tez, etc.)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Improved scalability &amp; cluster utilization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Better fault tolerance &amp; flexibility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Decoupled processing model enables new computation engines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117DDE-C84C-1BF2-C191-E32EE3229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080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2663</Words>
  <Application>Microsoft Office PowerPoint</Application>
  <PresentationFormat>Widescreen</PresentationFormat>
  <Paragraphs>267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Ashraf Uddin</dc:creator>
  <cp:lastModifiedBy>Dr. Ashraf Uddin</cp:lastModifiedBy>
  <cp:revision>270</cp:revision>
  <dcterms:created xsi:type="dcterms:W3CDTF">2023-09-18T11:08:30Z</dcterms:created>
  <dcterms:modified xsi:type="dcterms:W3CDTF">2025-11-04T11:40:18Z</dcterms:modified>
</cp:coreProperties>
</file>